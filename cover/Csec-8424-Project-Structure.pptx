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Lato Bold" charset="1" panose="020F0502020204030203"/>
      <p:regular r:id="rId25"/>
    </p:embeddedFont>
    <p:embeddedFont>
      <p:font typeface="Montserrat Light" charset="1" panose="00000400000000000000"/>
      <p:regular r:id="rId26"/>
    </p:embeddedFont>
    <p:embeddedFont>
      <p:font typeface="Montserrat" charset="1" panose="00000500000000000000"/>
      <p:regular r:id="rId27"/>
    </p:embeddedFont>
    <p:embeddedFont>
      <p:font typeface="Montserrat Bold" charset="1" panose="00000800000000000000"/>
      <p:regular r:id="rId28"/>
    </p:embeddedFont>
    <p:embeddedFont>
      <p:font typeface="Canva Sans" charset="1" panose="020B0503030501040103"/>
      <p:regular r:id="rId29"/>
    </p:embeddedFont>
    <p:embeddedFont>
      <p:font typeface="Lato" charset="1" panose="020F0502020204030203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5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12" Target="../media/image26.png" Type="http://schemas.openxmlformats.org/officeDocument/2006/relationships/image"/><Relationship Id="rId13" Target="../media/image27.svg" Type="http://schemas.openxmlformats.org/officeDocument/2006/relationships/image"/><Relationship Id="rId14" Target="../media/image7.png" Type="http://schemas.openxmlformats.org/officeDocument/2006/relationships/image"/><Relationship Id="rId15" Target="../media/image8.svg" Type="http://schemas.openxmlformats.org/officeDocument/2006/relationships/image"/><Relationship Id="rId16" Target="../media/image11.png" Type="http://schemas.openxmlformats.org/officeDocument/2006/relationships/image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12" Target="../media/image34.png" Type="http://schemas.openxmlformats.org/officeDocument/2006/relationships/image"/><Relationship Id="rId13" Target="../media/image35.svg" Type="http://schemas.openxmlformats.org/officeDocument/2006/relationships/image"/><Relationship Id="rId14" Target="../media/image11.png" Type="http://schemas.openxmlformats.org/officeDocument/2006/relationships/image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40.pn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pn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svg" Type="http://schemas.openxmlformats.org/officeDocument/2006/relationships/image"/><Relationship Id="rId4" Target="../media/image49.png" Type="http://schemas.openxmlformats.org/officeDocument/2006/relationships/image"/><Relationship Id="rId5" Target="../media/image46.png" Type="http://schemas.openxmlformats.org/officeDocument/2006/relationships/image"/><Relationship Id="rId6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23216" y="-276636"/>
            <a:ext cx="5685413" cy="11207803"/>
          </a:xfrm>
          <a:custGeom>
            <a:avLst/>
            <a:gdLst/>
            <a:ahLst/>
            <a:cxnLst/>
            <a:rect r="r" b="b" t="t" l="l"/>
            <a:pathLst>
              <a:path h="11207803" w="5685413">
                <a:moveTo>
                  <a:pt x="0" y="0"/>
                </a:moveTo>
                <a:lnTo>
                  <a:pt x="5685413" y="0"/>
                </a:lnTo>
                <a:lnTo>
                  <a:pt x="5685413" y="11207803"/>
                </a:lnTo>
                <a:lnTo>
                  <a:pt x="0" y="11207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709640" y="-276636"/>
            <a:ext cx="5685413" cy="11207803"/>
          </a:xfrm>
          <a:custGeom>
            <a:avLst/>
            <a:gdLst/>
            <a:ahLst/>
            <a:cxnLst/>
            <a:rect r="r" b="b" t="t" l="l"/>
            <a:pathLst>
              <a:path h="11207803" w="5685413">
                <a:moveTo>
                  <a:pt x="5685413" y="11207803"/>
                </a:moveTo>
                <a:lnTo>
                  <a:pt x="0" y="11207803"/>
                </a:lnTo>
                <a:lnTo>
                  <a:pt x="0" y="0"/>
                </a:lnTo>
                <a:lnTo>
                  <a:pt x="5685413" y="0"/>
                </a:lnTo>
                <a:lnTo>
                  <a:pt x="5685413" y="11207803"/>
                </a:lnTo>
                <a:close/>
              </a:path>
            </a:pathLst>
          </a:custGeom>
          <a:blipFill>
            <a:blip r:embed="rId2">
              <a:alphaModFix amt="5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620101" y="1601259"/>
            <a:ext cx="7175811" cy="7084483"/>
          </a:xfrm>
          <a:custGeom>
            <a:avLst/>
            <a:gdLst/>
            <a:ahLst/>
            <a:cxnLst/>
            <a:rect r="r" b="b" t="t" l="l"/>
            <a:pathLst>
              <a:path h="7084483" w="7175811">
                <a:moveTo>
                  <a:pt x="0" y="0"/>
                </a:moveTo>
                <a:lnTo>
                  <a:pt x="7175811" y="0"/>
                </a:lnTo>
                <a:lnTo>
                  <a:pt x="7175811" y="7084482"/>
                </a:lnTo>
                <a:lnTo>
                  <a:pt x="0" y="7084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132218" y="3380850"/>
            <a:ext cx="2369415" cy="3159220"/>
          </a:xfrm>
          <a:custGeom>
            <a:avLst/>
            <a:gdLst/>
            <a:ahLst/>
            <a:cxnLst/>
            <a:rect r="r" b="b" t="t" l="l"/>
            <a:pathLst>
              <a:path h="3159220" w="2369415">
                <a:moveTo>
                  <a:pt x="0" y="0"/>
                </a:moveTo>
                <a:lnTo>
                  <a:pt x="2369415" y="0"/>
                </a:lnTo>
                <a:lnTo>
                  <a:pt x="2369415" y="3159221"/>
                </a:lnTo>
                <a:lnTo>
                  <a:pt x="0" y="31592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9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758234">
            <a:off x="-179629" y="-998396"/>
            <a:ext cx="7315200" cy="3441640"/>
          </a:xfrm>
          <a:custGeom>
            <a:avLst/>
            <a:gdLst/>
            <a:ahLst/>
            <a:cxnLst/>
            <a:rect r="r" b="b" t="t" l="l"/>
            <a:pathLst>
              <a:path h="3441640" w="7315200">
                <a:moveTo>
                  <a:pt x="0" y="0"/>
                </a:moveTo>
                <a:lnTo>
                  <a:pt x="7315200" y="0"/>
                </a:lnTo>
                <a:lnTo>
                  <a:pt x="7315200" y="3441641"/>
                </a:lnTo>
                <a:lnTo>
                  <a:pt x="0" y="34416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123216" y="-276636"/>
            <a:ext cx="6036344" cy="10885210"/>
          </a:xfrm>
          <a:custGeom>
            <a:avLst/>
            <a:gdLst/>
            <a:ahLst/>
            <a:cxnLst/>
            <a:rect r="r" b="b" t="t" l="l"/>
            <a:pathLst>
              <a:path h="10885210" w="6036344">
                <a:moveTo>
                  <a:pt x="0" y="0"/>
                </a:moveTo>
                <a:lnTo>
                  <a:pt x="6036344" y="0"/>
                </a:lnTo>
                <a:lnTo>
                  <a:pt x="6036344" y="10885209"/>
                </a:lnTo>
                <a:lnTo>
                  <a:pt x="0" y="108852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808629" y="365702"/>
            <a:ext cx="2101720" cy="1881733"/>
          </a:xfrm>
          <a:custGeom>
            <a:avLst/>
            <a:gdLst/>
            <a:ahLst/>
            <a:cxnLst/>
            <a:rect r="r" b="b" t="t" l="l"/>
            <a:pathLst>
              <a:path h="1881733" w="2101720">
                <a:moveTo>
                  <a:pt x="0" y="0"/>
                </a:moveTo>
                <a:lnTo>
                  <a:pt x="2101721" y="0"/>
                </a:lnTo>
                <a:lnTo>
                  <a:pt x="2101721" y="1881733"/>
                </a:lnTo>
                <a:lnTo>
                  <a:pt x="0" y="188173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3766271"/>
            <a:ext cx="9094516" cy="125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74"/>
              </a:lnSpc>
            </a:pPr>
            <a:r>
              <a:rPr lang="en-US" sz="8499" b="true">
                <a:solidFill>
                  <a:srgbClr val="D8E2F0"/>
                </a:solidFill>
                <a:latin typeface="Lato Bold"/>
                <a:ea typeface="Lato Bold"/>
                <a:cs typeface="Lato Bold"/>
                <a:sym typeface="Lato Bold"/>
              </a:rPr>
              <a:t>PROJECT TITLE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482921"/>
            <a:ext cx="6293686" cy="3161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4"/>
              </a:lnSpc>
            </a:pPr>
            <a:r>
              <a:rPr lang="en-US" sz="2996" spc="776">
                <a:solidFill>
                  <a:srgbClr val="6CD9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Stude</a:t>
            </a:r>
            <a:r>
              <a:rPr lang="en-US" sz="2996" spc="776">
                <a:solidFill>
                  <a:srgbClr val="6CD9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nt name(s)</a:t>
            </a:r>
          </a:p>
          <a:p>
            <a:pPr algn="l">
              <a:lnSpc>
                <a:spcPts val="4194"/>
              </a:lnSpc>
            </a:pPr>
            <a:r>
              <a:rPr lang="en-US" sz="2996" spc="776">
                <a:solidFill>
                  <a:srgbClr val="6CD9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Student ID</a:t>
            </a:r>
          </a:p>
          <a:p>
            <a:pPr algn="l">
              <a:lnSpc>
                <a:spcPts val="4194"/>
              </a:lnSpc>
            </a:pPr>
            <a:r>
              <a:rPr lang="en-US" sz="2996" spc="776">
                <a:solidFill>
                  <a:srgbClr val="6CD9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Supervisor name</a:t>
            </a:r>
          </a:p>
          <a:p>
            <a:pPr algn="l">
              <a:lnSpc>
                <a:spcPts val="4194"/>
              </a:lnSpc>
            </a:pPr>
            <a:r>
              <a:rPr lang="en-US" sz="2996" spc="776">
                <a:solidFill>
                  <a:srgbClr val="6CD9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Subject</a:t>
            </a:r>
          </a:p>
          <a:p>
            <a:pPr algn="l">
              <a:lnSpc>
                <a:spcPts val="4194"/>
              </a:lnSpc>
            </a:pPr>
            <a:r>
              <a:rPr lang="en-US" sz="2996" spc="776">
                <a:solidFill>
                  <a:srgbClr val="6CD9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University</a:t>
            </a:r>
          </a:p>
          <a:p>
            <a:pPr algn="l">
              <a:lnSpc>
                <a:spcPts val="4194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36811"/>
            <a:ext cx="6413310" cy="11564986"/>
          </a:xfrm>
          <a:custGeom>
            <a:avLst/>
            <a:gdLst/>
            <a:ahLst/>
            <a:cxnLst/>
            <a:rect r="r" b="b" t="t" l="l"/>
            <a:pathLst>
              <a:path h="11564986" w="6413310">
                <a:moveTo>
                  <a:pt x="0" y="0"/>
                </a:moveTo>
                <a:lnTo>
                  <a:pt x="6413310" y="0"/>
                </a:lnTo>
                <a:lnTo>
                  <a:pt x="6413310" y="11564986"/>
                </a:lnTo>
                <a:lnTo>
                  <a:pt x="0" y="115649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71027" y="0"/>
            <a:ext cx="10310462" cy="10462645"/>
          </a:xfrm>
          <a:custGeom>
            <a:avLst/>
            <a:gdLst/>
            <a:ahLst/>
            <a:cxnLst/>
            <a:rect r="r" b="b" t="t" l="l"/>
            <a:pathLst>
              <a:path h="10462645" w="10310462">
                <a:moveTo>
                  <a:pt x="0" y="0"/>
                </a:moveTo>
                <a:lnTo>
                  <a:pt x="10310462" y="0"/>
                </a:lnTo>
                <a:lnTo>
                  <a:pt x="10310462" y="10462645"/>
                </a:lnTo>
                <a:lnTo>
                  <a:pt x="0" y="104626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09251"/>
            <a:ext cx="7262840" cy="2881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69"/>
              </a:lnSpc>
            </a:pPr>
            <a:r>
              <a:rPr lang="en-US" sz="9799" b="true">
                <a:solidFill>
                  <a:srgbClr val="D8E2F0"/>
                </a:solidFill>
                <a:latin typeface="Lato Bold"/>
                <a:ea typeface="Lato Bold"/>
                <a:cs typeface="Lato Bold"/>
                <a:sym typeface="Lato Bold"/>
              </a:rPr>
              <a:t>PROBLEM</a:t>
            </a:r>
            <a:r>
              <a:rPr lang="en-US" b="true" sz="9799">
                <a:solidFill>
                  <a:srgbClr val="D8E2F0"/>
                </a:solidFill>
                <a:latin typeface="Lato Bold"/>
                <a:ea typeface="Lato Bold"/>
                <a:cs typeface="Lato Bold"/>
                <a:sym typeface="Lato Bold"/>
              </a:rPr>
              <a:t>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237130"/>
            <a:ext cx="8518667" cy="378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6CD9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Clearly define the p</a:t>
            </a:r>
            <a:r>
              <a:rPr lang="en-US" sz="2700">
                <a:solidFill>
                  <a:srgbClr val="6CD9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roblem being solved.</a:t>
            </a:r>
          </a:p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6CD9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Students should answer:</a:t>
            </a:r>
          </a:p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6CD9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“What specific security problem does this project solve?”</a:t>
            </a:r>
          </a:p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6CD9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Avoid general statements such as:</a:t>
            </a:r>
          </a:p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6CD9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"Cybersecurity is becoming increasingly important."</a:t>
            </a:r>
          </a:p>
          <a:p>
            <a:pPr algn="l">
              <a:lnSpc>
                <a:spcPts val="3780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808629" y="365702"/>
            <a:ext cx="2101720" cy="1881733"/>
          </a:xfrm>
          <a:custGeom>
            <a:avLst/>
            <a:gdLst/>
            <a:ahLst/>
            <a:cxnLst/>
            <a:rect r="r" b="b" t="t" l="l"/>
            <a:pathLst>
              <a:path h="1881733" w="2101720">
                <a:moveTo>
                  <a:pt x="0" y="0"/>
                </a:moveTo>
                <a:lnTo>
                  <a:pt x="2101721" y="0"/>
                </a:lnTo>
                <a:lnTo>
                  <a:pt x="2101721" y="1881733"/>
                </a:lnTo>
                <a:lnTo>
                  <a:pt x="0" y="18817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4639" y="3399732"/>
            <a:ext cx="1562652" cy="1320566"/>
            <a:chOff x="0" y="0"/>
            <a:chExt cx="469350" cy="3966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9350" cy="396639"/>
            </a:xfrm>
            <a:custGeom>
              <a:avLst/>
              <a:gdLst/>
              <a:ahLst/>
              <a:cxnLst/>
              <a:rect r="r" b="b" t="t" l="l"/>
              <a:pathLst>
                <a:path h="396639" w="469350">
                  <a:moveTo>
                    <a:pt x="69361" y="0"/>
                  </a:moveTo>
                  <a:lnTo>
                    <a:pt x="399990" y="0"/>
                  </a:lnTo>
                  <a:cubicBezTo>
                    <a:pt x="418385" y="0"/>
                    <a:pt x="436027" y="7308"/>
                    <a:pt x="449035" y="20315"/>
                  </a:cubicBezTo>
                  <a:cubicBezTo>
                    <a:pt x="462043" y="33323"/>
                    <a:pt x="469350" y="50965"/>
                    <a:pt x="469350" y="69361"/>
                  </a:cubicBezTo>
                  <a:lnTo>
                    <a:pt x="469350" y="327278"/>
                  </a:lnTo>
                  <a:cubicBezTo>
                    <a:pt x="469350" y="365585"/>
                    <a:pt x="438297" y="396639"/>
                    <a:pt x="399990" y="396639"/>
                  </a:cubicBezTo>
                  <a:lnTo>
                    <a:pt x="69361" y="396639"/>
                  </a:lnTo>
                  <a:cubicBezTo>
                    <a:pt x="50965" y="396639"/>
                    <a:pt x="33323" y="389331"/>
                    <a:pt x="20315" y="376323"/>
                  </a:cubicBezTo>
                  <a:cubicBezTo>
                    <a:pt x="7308" y="363316"/>
                    <a:pt x="0" y="345673"/>
                    <a:pt x="0" y="327278"/>
                  </a:cubicBezTo>
                  <a:lnTo>
                    <a:pt x="0" y="69361"/>
                  </a:lnTo>
                  <a:cubicBezTo>
                    <a:pt x="0" y="50965"/>
                    <a:pt x="7308" y="33323"/>
                    <a:pt x="20315" y="20315"/>
                  </a:cubicBezTo>
                  <a:cubicBezTo>
                    <a:pt x="33323" y="7308"/>
                    <a:pt x="50965" y="0"/>
                    <a:pt x="69361" y="0"/>
                  </a:cubicBezTo>
                  <a:close/>
                </a:path>
              </a:pathLst>
            </a:custGeom>
            <a:ln w="28575" cap="sq">
              <a:solidFill>
                <a:srgbClr val="6CD9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9350" cy="434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48187" y="3399732"/>
            <a:ext cx="7471778" cy="1320566"/>
            <a:chOff x="0" y="0"/>
            <a:chExt cx="2244187" cy="39663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4187" cy="396639"/>
            </a:xfrm>
            <a:custGeom>
              <a:avLst/>
              <a:gdLst/>
              <a:ahLst/>
              <a:cxnLst/>
              <a:rect r="r" b="b" t="t" l="l"/>
              <a:pathLst>
                <a:path h="396639" w="2244187">
                  <a:moveTo>
                    <a:pt x="14506" y="0"/>
                  </a:moveTo>
                  <a:lnTo>
                    <a:pt x="2229681" y="0"/>
                  </a:lnTo>
                  <a:cubicBezTo>
                    <a:pt x="2237692" y="0"/>
                    <a:pt x="2244187" y="6495"/>
                    <a:pt x="2244187" y="14506"/>
                  </a:cubicBezTo>
                  <a:lnTo>
                    <a:pt x="2244187" y="382133"/>
                  </a:lnTo>
                  <a:cubicBezTo>
                    <a:pt x="2244187" y="390144"/>
                    <a:pt x="2237692" y="396639"/>
                    <a:pt x="2229681" y="396639"/>
                  </a:cubicBezTo>
                  <a:lnTo>
                    <a:pt x="14506" y="396639"/>
                  </a:lnTo>
                  <a:cubicBezTo>
                    <a:pt x="10659" y="396639"/>
                    <a:pt x="6969" y="395110"/>
                    <a:pt x="4249" y="392390"/>
                  </a:cubicBezTo>
                  <a:cubicBezTo>
                    <a:pt x="1528" y="389670"/>
                    <a:pt x="0" y="385980"/>
                    <a:pt x="0" y="382133"/>
                  </a:cubicBezTo>
                  <a:lnTo>
                    <a:pt x="0" y="14506"/>
                  </a:lnTo>
                  <a:cubicBezTo>
                    <a:pt x="0" y="6495"/>
                    <a:pt x="6495" y="0"/>
                    <a:pt x="14506" y="0"/>
                  </a:cubicBezTo>
                  <a:close/>
                </a:path>
              </a:pathLst>
            </a:custGeom>
            <a:ln w="28575" cap="sq">
              <a:solidFill>
                <a:srgbClr val="6CD9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44187" cy="434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4639" y="4912399"/>
            <a:ext cx="1562652" cy="1320566"/>
            <a:chOff x="0" y="0"/>
            <a:chExt cx="469350" cy="3966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9350" cy="396639"/>
            </a:xfrm>
            <a:custGeom>
              <a:avLst/>
              <a:gdLst/>
              <a:ahLst/>
              <a:cxnLst/>
              <a:rect r="r" b="b" t="t" l="l"/>
              <a:pathLst>
                <a:path h="396639" w="469350">
                  <a:moveTo>
                    <a:pt x="69361" y="0"/>
                  </a:moveTo>
                  <a:lnTo>
                    <a:pt x="399990" y="0"/>
                  </a:lnTo>
                  <a:cubicBezTo>
                    <a:pt x="418385" y="0"/>
                    <a:pt x="436027" y="7308"/>
                    <a:pt x="449035" y="20315"/>
                  </a:cubicBezTo>
                  <a:cubicBezTo>
                    <a:pt x="462043" y="33323"/>
                    <a:pt x="469350" y="50965"/>
                    <a:pt x="469350" y="69361"/>
                  </a:cubicBezTo>
                  <a:lnTo>
                    <a:pt x="469350" y="327278"/>
                  </a:lnTo>
                  <a:cubicBezTo>
                    <a:pt x="469350" y="365585"/>
                    <a:pt x="438297" y="396639"/>
                    <a:pt x="399990" y="396639"/>
                  </a:cubicBezTo>
                  <a:lnTo>
                    <a:pt x="69361" y="396639"/>
                  </a:lnTo>
                  <a:cubicBezTo>
                    <a:pt x="50965" y="396639"/>
                    <a:pt x="33323" y="389331"/>
                    <a:pt x="20315" y="376323"/>
                  </a:cubicBezTo>
                  <a:cubicBezTo>
                    <a:pt x="7308" y="363316"/>
                    <a:pt x="0" y="345673"/>
                    <a:pt x="0" y="327278"/>
                  </a:cubicBezTo>
                  <a:lnTo>
                    <a:pt x="0" y="69361"/>
                  </a:lnTo>
                  <a:cubicBezTo>
                    <a:pt x="0" y="50965"/>
                    <a:pt x="7308" y="33323"/>
                    <a:pt x="20315" y="20315"/>
                  </a:cubicBezTo>
                  <a:cubicBezTo>
                    <a:pt x="33323" y="7308"/>
                    <a:pt x="50965" y="0"/>
                    <a:pt x="69361" y="0"/>
                  </a:cubicBezTo>
                  <a:close/>
                </a:path>
              </a:pathLst>
            </a:custGeom>
            <a:ln w="28575" cap="sq">
              <a:solidFill>
                <a:srgbClr val="6CD9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69350" cy="434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848187" y="4912399"/>
            <a:ext cx="7471778" cy="1320566"/>
            <a:chOff x="0" y="0"/>
            <a:chExt cx="2244187" cy="39663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44187" cy="396639"/>
            </a:xfrm>
            <a:custGeom>
              <a:avLst/>
              <a:gdLst/>
              <a:ahLst/>
              <a:cxnLst/>
              <a:rect r="r" b="b" t="t" l="l"/>
              <a:pathLst>
                <a:path h="396639" w="2244187">
                  <a:moveTo>
                    <a:pt x="14506" y="0"/>
                  </a:moveTo>
                  <a:lnTo>
                    <a:pt x="2229681" y="0"/>
                  </a:lnTo>
                  <a:cubicBezTo>
                    <a:pt x="2237692" y="0"/>
                    <a:pt x="2244187" y="6495"/>
                    <a:pt x="2244187" y="14506"/>
                  </a:cubicBezTo>
                  <a:lnTo>
                    <a:pt x="2244187" y="382133"/>
                  </a:lnTo>
                  <a:cubicBezTo>
                    <a:pt x="2244187" y="390144"/>
                    <a:pt x="2237692" y="396639"/>
                    <a:pt x="2229681" y="396639"/>
                  </a:cubicBezTo>
                  <a:lnTo>
                    <a:pt x="14506" y="396639"/>
                  </a:lnTo>
                  <a:cubicBezTo>
                    <a:pt x="10659" y="396639"/>
                    <a:pt x="6969" y="395110"/>
                    <a:pt x="4249" y="392390"/>
                  </a:cubicBezTo>
                  <a:cubicBezTo>
                    <a:pt x="1528" y="389670"/>
                    <a:pt x="0" y="385980"/>
                    <a:pt x="0" y="382133"/>
                  </a:cubicBezTo>
                  <a:lnTo>
                    <a:pt x="0" y="14506"/>
                  </a:lnTo>
                  <a:cubicBezTo>
                    <a:pt x="0" y="6495"/>
                    <a:pt x="6495" y="0"/>
                    <a:pt x="14506" y="0"/>
                  </a:cubicBezTo>
                  <a:close/>
                </a:path>
              </a:pathLst>
            </a:custGeom>
            <a:ln w="28575" cap="sq">
              <a:solidFill>
                <a:srgbClr val="6CD9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244187" cy="434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94639" y="6425067"/>
            <a:ext cx="1562652" cy="1320566"/>
            <a:chOff x="0" y="0"/>
            <a:chExt cx="469350" cy="3966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9350" cy="396639"/>
            </a:xfrm>
            <a:custGeom>
              <a:avLst/>
              <a:gdLst/>
              <a:ahLst/>
              <a:cxnLst/>
              <a:rect r="r" b="b" t="t" l="l"/>
              <a:pathLst>
                <a:path h="396639" w="469350">
                  <a:moveTo>
                    <a:pt x="69361" y="0"/>
                  </a:moveTo>
                  <a:lnTo>
                    <a:pt x="399990" y="0"/>
                  </a:lnTo>
                  <a:cubicBezTo>
                    <a:pt x="418385" y="0"/>
                    <a:pt x="436027" y="7308"/>
                    <a:pt x="449035" y="20315"/>
                  </a:cubicBezTo>
                  <a:cubicBezTo>
                    <a:pt x="462043" y="33323"/>
                    <a:pt x="469350" y="50965"/>
                    <a:pt x="469350" y="69361"/>
                  </a:cubicBezTo>
                  <a:lnTo>
                    <a:pt x="469350" y="327278"/>
                  </a:lnTo>
                  <a:cubicBezTo>
                    <a:pt x="469350" y="365585"/>
                    <a:pt x="438297" y="396639"/>
                    <a:pt x="399990" y="396639"/>
                  </a:cubicBezTo>
                  <a:lnTo>
                    <a:pt x="69361" y="396639"/>
                  </a:lnTo>
                  <a:cubicBezTo>
                    <a:pt x="50965" y="396639"/>
                    <a:pt x="33323" y="389331"/>
                    <a:pt x="20315" y="376323"/>
                  </a:cubicBezTo>
                  <a:cubicBezTo>
                    <a:pt x="7308" y="363316"/>
                    <a:pt x="0" y="345673"/>
                    <a:pt x="0" y="327278"/>
                  </a:cubicBezTo>
                  <a:lnTo>
                    <a:pt x="0" y="69361"/>
                  </a:lnTo>
                  <a:cubicBezTo>
                    <a:pt x="0" y="50965"/>
                    <a:pt x="7308" y="33323"/>
                    <a:pt x="20315" y="20315"/>
                  </a:cubicBezTo>
                  <a:cubicBezTo>
                    <a:pt x="33323" y="7308"/>
                    <a:pt x="50965" y="0"/>
                    <a:pt x="69361" y="0"/>
                  </a:cubicBezTo>
                  <a:close/>
                </a:path>
              </a:pathLst>
            </a:custGeom>
            <a:ln w="28575" cap="sq">
              <a:solidFill>
                <a:srgbClr val="6CD9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69350" cy="434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848187" y="6425067"/>
            <a:ext cx="7471778" cy="1320566"/>
            <a:chOff x="0" y="0"/>
            <a:chExt cx="2244187" cy="39663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44187" cy="396639"/>
            </a:xfrm>
            <a:custGeom>
              <a:avLst/>
              <a:gdLst/>
              <a:ahLst/>
              <a:cxnLst/>
              <a:rect r="r" b="b" t="t" l="l"/>
              <a:pathLst>
                <a:path h="396639" w="2244187">
                  <a:moveTo>
                    <a:pt x="14506" y="0"/>
                  </a:moveTo>
                  <a:lnTo>
                    <a:pt x="2229681" y="0"/>
                  </a:lnTo>
                  <a:cubicBezTo>
                    <a:pt x="2237692" y="0"/>
                    <a:pt x="2244187" y="6495"/>
                    <a:pt x="2244187" y="14506"/>
                  </a:cubicBezTo>
                  <a:lnTo>
                    <a:pt x="2244187" y="382133"/>
                  </a:lnTo>
                  <a:cubicBezTo>
                    <a:pt x="2244187" y="390144"/>
                    <a:pt x="2237692" y="396639"/>
                    <a:pt x="2229681" y="396639"/>
                  </a:cubicBezTo>
                  <a:lnTo>
                    <a:pt x="14506" y="396639"/>
                  </a:lnTo>
                  <a:cubicBezTo>
                    <a:pt x="10659" y="396639"/>
                    <a:pt x="6969" y="395110"/>
                    <a:pt x="4249" y="392390"/>
                  </a:cubicBezTo>
                  <a:cubicBezTo>
                    <a:pt x="1528" y="389670"/>
                    <a:pt x="0" y="385980"/>
                    <a:pt x="0" y="382133"/>
                  </a:cubicBezTo>
                  <a:lnTo>
                    <a:pt x="0" y="14506"/>
                  </a:lnTo>
                  <a:cubicBezTo>
                    <a:pt x="0" y="6495"/>
                    <a:pt x="6495" y="0"/>
                    <a:pt x="14506" y="0"/>
                  </a:cubicBezTo>
                  <a:close/>
                </a:path>
              </a:pathLst>
            </a:custGeom>
            <a:ln w="28575" cap="sq">
              <a:solidFill>
                <a:srgbClr val="6CD9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244187" cy="434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94639" y="7937734"/>
            <a:ext cx="1562652" cy="1320566"/>
            <a:chOff x="0" y="0"/>
            <a:chExt cx="469350" cy="3966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69350" cy="396639"/>
            </a:xfrm>
            <a:custGeom>
              <a:avLst/>
              <a:gdLst/>
              <a:ahLst/>
              <a:cxnLst/>
              <a:rect r="r" b="b" t="t" l="l"/>
              <a:pathLst>
                <a:path h="396639" w="469350">
                  <a:moveTo>
                    <a:pt x="69361" y="0"/>
                  </a:moveTo>
                  <a:lnTo>
                    <a:pt x="399990" y="0"/>
                  </a:lnTo>
                  <a:cubicBezTo>
                    <a:pt x="418385" y="0"/>
                    <a:pt x="436027" y="7308"/>
                    <a:pt x="449035" y="20315"/>
                  </a:cubicBezTo>
                  <a:cubicBezTo>
                    <a:pt x="462043" y="33323"/>
                    <a:pt x="469350" y="50965"/>
                    <a:pt x="469350" y="69361"/>
                  </a:cubicBezTo>
                  <a:lnTo>
                    <a:pt x="469350" y="327278"/>
                  </a:lnTo>
                  <a:cubicBezTo>
                    <a:pt x="469350" y="365585"/>
                    <a:pt x="438297" y="396639"/>
                    <a:pt x="399990" y="396639"/>
                  </a:cubicBezTo>
                  <a:lnTo>
                    <a:pt x="69361" y="396639"/>
                  </a:lnTo>
                  <a:cubicBezTo>
                    <a:pt x="50965" y="396639"/>
                    <a:pt x="33323" y="389331"/>
                    <a:pt x="20315" y="376323"/>
                  </a:cubicBezTo>
                  <a:cubicBezTo>
                    <a:pt x="7308" y="363316"/>
                    <a:pt x="0" y="345673"/>
                    <a:pt x="0" y="327278"/>
                  </a:cubicBezTo>
                  <a:lnTo>
                    <a:pt x="0" y="69361"/>
                  </a:lnTo>
                  <a:cubicBezTo>
                    <a:pt x="0" y="50965"/>
                    <a:pt x="7308" y="33323"/>
                    <a:pt x="20315" y="20315"/>
                  </a:cubicBezTo>
                  <a:cubicBezTo>
                    <a:pt x="33323" y="7308"/>
                    <a:pt x="50965" y="0"/>
                    <a:pt x="69361" y="0"/>
                  </a:cubicBezTo>
                  <a:close/>
                </a:path>
              </a:pathLst>
            </a:custGeom>
            <a:ln w="28575" cap="sq">
              <a:solidFill>
                <a:srgbClr val="6CD9F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69350" cy="434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848187" y="7937734"/>
            <a:ext cx="7471778" cy="1320566"/>
            <a:chOff x="0" y="0"/>
            <a:chExt cx="2244187" cy="39663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44187" cy="396639"/>
            </a:xfrm>
            <a:custGeom>
              <a:avLst/>
              <a:gdLst/>
              <a:ahLst/>
              <a:cxnLst/>
              <a:rect r="r" b="b" t="t" l="l"/>
              <a:pathLst>
                <a:path h="396639" w="2244187">
                  <a:moveTo>
                    <a:pt x="14506" y="0"/>
                  </a:moveTo>
                  <a:lnTo>
                    <a:pt x="2229681" y="0"/>
                  </a:lnTo>
                  <a:cubicBezTo>
                    <a:pt x="2237692" y="0"/>
                    <a:pt x="2244187" y="6495"/>
                    <a:pt x="2244187" y="14506"/>
                  </a:cubicBezTo>
                  <a:lnTo>
                    <a:pt x="2244187" y="382133"/>
                  </a:lnTo>
                  <a:cubicBezTo>
                    <a:pt x="2244187" y="390144"/>
                    <a:pt x="2237692" y="396639"/>
                    <a:pt x="2229681" y="396639"/>
                  </a:cubicBezTo>
                  <a:lnTo>
                    <a:pt x="14506" y="396639"/>
                  </a:lnTo>
                  <a:cubicBezTo>
                    <a:pt x="10659" y="396639"/>
                    <a:pt x="6969" y="395110"/>
                    <a:pt x="4249" y="392390"/>
                  </a:cubicBezTo>
                  <a:cubicBezTo>
                    <a:pt x="1528" y="389670"/>
                    <a:pt x="0" y="385980"/>
                    <a:pt x="0" y="382133"/>
                  </a:cubicBezTo>
                  <a:lnTo>
                    <a:pt x="0" y="14506"/>
                  </a:lnTo>
                  <a:cubicBezTo>
                    <a:pt x="0" y="6495"/>
                    <a:pt x="6495" y="0"/>
                    <a:pt x="14506" y="0"/>
                  </a:cubicBezTo>
                  <a:close/>
                </a:path>
              </a:pathLst>
            </a:custGeom>
            <a:ln w="28575" cap="sq">
              <a:solidFill>
                <a:srgbClr val="6CD9F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244187" cy="434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1260934" y="363082"/>
            <a:ext cx="9018257" cy="10611302"/>
          </a:xfrm>
          <a:custGeom>
            <a:avLst/>
            <a:gdLst/>
            <a:ahLst/>
            <a:cxnLst/>
            <a:rect r="r" b="b" t="t" l="l"/>
            <a:pathLst>
              <a:path h="10611302" w="9018257">
                <a:moveTo>
                  <a:pt x="0" y="0"/>
                </a:moveTo>
                <a:lnTo>
                  <a:pt x="9018257" y="0"/>
                </a:lnTo>
                <a:lnTo>
                  <a:pt x="9018257" y="10611302"/>
                </a:lnTo>
                <a:lnTo>
                  <a:pt x="0" y="10611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1000"/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028700" y="823142"/>
            <a:ext cx="6611429" cy="1199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57"/>
              </a:lnSpc>
            </a:pPr>
            <a:r>
              <a:rPr lang="en-US" b="true" sz="8136">
                <a:solidFill>
                  <a:srgbClr val="D8E2F0"/>
                </a:solidFill>
                <a:latin typeface="Lato Bold"/>
                <a:ea typeface="Lato Bold"/>
                <a:cs typeface="Lato Bold"/>
                <a:sym typeface="Lato Bold"/>
              </a:rPr>
              <a:t>OBJECTIVES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099924" y="4051103"/>
            <a:ext cx="5693881" cy="422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Stop thr</a:t>
            </a: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eats before they happen.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27580" y="3543454"/>
            <a:ext cx="1096770" cy="92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79"/>
              </a:lnSpc>
            </a:pPr>
            <a:r>
              <a:rPr lang="en-US" sz="5414" b="true">
                <a:solidFill>
                  <a:srgbClr val="6CD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27580" y="5151371"/>
            <a:ext cx="1096770" cy="92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79"/>
              </a:lnSpc>
            </a:pPr>
            <a:r>
              <a:rPr lang="en-US" sz="5414" b="true">
                <a:solidFill>
                  <a:srgbClr val="6CD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27580" y="6664039"/>
            <a:ext cx="1096770" cy="92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79"/>
              </a:lnSpc>
            </a:pPr>
            <a:r>
              <a:rPr lang="en-US" sz="5414" b="true">
                <a:solidFill>
                  <a:srgbClr val="6CD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27580" y="8176706"/>
            <a:ext cx="1096770" cy="92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79"/>
              </a:lnSpc>
            </a:pPr>
            <a:r>
              <a:rPr lang="en-US" sz="5414" b="true">
                <a:solidFill>
                  <a:srgbClr val="6CD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117766" y="3659993"/>
            <a:ext cx="2350891" cy="43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6CD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</a:t>
            </a:r>
            <a:r>
              <a:rPr lang="en-US" sz="2600" b="true">
                <a:solidFill>
                  <a:srgbClr val="6CD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evention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099924" y="5533275"/>
            <a:ext cx="6575855" cy="422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Identify thr</a:t>
            </a: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eats quickly and accurately.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117766" y="5142165"/>
            <a:ext cx="2350891" cy="43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6CD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</a:t>
            </a:r>
            <a:r>
              <a:rPr lang="en-US" sz="2600" b="true">
                <a:solidFill>
                  <a:srgbClr val="6CD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etection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099924" y="7015447"/>
            <a:ext cx="6575855" cy="422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Act f</a:t>
            </a: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ast to minimize potential damage.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117766" y="6624337"/>
            <a:ext cx="2350891" cy="43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6CD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</a:t>
            </a:r>
            <a:r>
              <a:rPr lang="en-US" sz="2600" b="true">
                <a:solidFill>
                  <a:srgbClr val="6CD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esponse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099924" y="8497619"/>
            <a:ext cx="7220041" cy="422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Restore syst</a:t>
            </a: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ems and strengthen resilience.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117766" y="8106509"/>
            <a:ext cx="2350891" cy="43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6CD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</a:t>
            </a:r>
            <a:r>
              <a:rPr lang="en-US" sz="2600" b="true">
                <a:solidFill>
                  <a:srgbClr val="6CD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ecovery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5808629" y="365702"/>
            <a:ext cx="2101720" cy="1881733"/>
          </a:xfrm>
          <a:custGeom>
            <a:avLst/>
            <a:gdLst/>
            <a:ahLst/>
            <a:cxnLst/>
            <a:rect r="r" b="b" t="t" l="l"/>
            <a:pathLst>
              <a:path h="1881733" w="2101720">
                <a:moveTo>
                  <a:pt x="0" y="0"/>
                </a:moveTo>
                <a:lnTo>
                  <a:pt x="2101721" y="0"/>
                </a:lnTo>
                <a:lnTo>
                  <a:pt x="2101721" y="1881733"/>
                </a:lnTo>
                <a:lnTo>
                  <a:pt x="0" y="18817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98254" y="0"/>
            <a:ext cx="7315200" cy="3441640"/>
          </a:xfrm>
          <a:custGeom>
            <a:avLst/>
            <a:gdLst/>
            <a:ahLst/>
            <a:cxnLst/>
            <a:rect r="r" b="b" t="t" l="l"/>
            <a:pathLst>
              <a:path h="3441640" w="7315200">
                <a:moveTo>
                  <a:pt x="0" y="0"/>
                </a:moveTo>
                <a:lnTo>
                  <a:pt x="7315200" y="0"/>
                </a:lnTo>
                <a:lnTo>
                  <a:pt x="7315200" y="3441640"/>
                </a:lnTo>
                <a:lnTo>
                  <a:pt x="0" y="3441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91713">
            <a:off x="-923485" y="7149396"/>
            <a:ext cx="7315200" cy="3441640"/>
          </a:xfrm>
          <a:custGeom>
            <a:avLst/>
            <a:gdLst/>
            <a:ahLst/>
            <a:cxnLst/>
            <a:rect r="r" b="b" t="t" l="l"/>
            <a:pathLst>
              <a:path h="3441640" w="7315200">
                <a:moveTo>
                  <a:pt x="0" y="0"/>
                </a:moveTo>
                <a:lnTo>
                  <a:pt x="7315200" y="0"/>
                </a:lnTo>
                <a:lnTo>
                  <a:pt x="7315200" y="3441641"/>
                </a:lnTo>
                <a:lnTo>
                  <a:pt x="0" y="34416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5070345" y="6449760"/>
            <a:ext cx="4350880" cy="6526320"/>
          </a:xfrm>
          <a:custGeom>
            <a:avLst/>
            <a:gdLst/>
            <a:ahLst/>
            <a:cxnLst/>
            <a:rect r="r" b="b" t="t" l="l"/>
            <a:pathLst>
              <a:path h="6526320" w="4350880">
                <a:moveTo>
                  <a:pt x="0" y="0"/>
                </a:moveTo>
                <a:lnTo>
                  <a:pt x="4350880" y="0"/>
                </a:lnTo>
                <a:lnTo>
                  <a:pt x="4350880" y="6526320"/>
                </a:lnTo>
                <a:lnTo>
                  <a:pt x="0" y="65263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-1146740" y="-2234460"/>
            <a:ext cx="4350880" cy="6526320"/>
          </a:xfrm>
          <a:custGeom>
            <a:avLst/>
            <a:gdLst/>
            <a:ahLst/>
            <a:cxnLst/>
            <a:rect r="r" b="b" t="t" l="l"/>
            <a:pathLst>
              <a:path h="6526320" w="4350880">
                <a:moveTo>
                  <a:pt x="0" y="6526320"/>
                </a:moveTo>
                <a:lnTo>
                  <a:pt x="4350880" y="6526320"/>
                </a:lnTo>
                <a:lnTo>
                  <a:pt x="4350880" y="0"/>
                </a:lnTo>
                <a:lnTo>
                  <a:pt x="0" y="0"/>
                </a:lnTo>
                <a:lnTo>
                  <a:pt x="0" y="652632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83293" y="1066800"/>
            <a:ext cx="10892413" cy="2881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69"/>
              </a:lnSpc>
            </a:pPr>
            <a:r>
              <a:rPr lang="en-US" b="true" sz="9799">
                <a:solidFill>
                  <a:srgbClr val="D8E2F0"/>
                </a:solidFill>
                <a:latin typeface="Lato Bold"/>
                <a:ea typeface="Lato Bold"/>
                <a:cs typeface="Lato Bold"/>
                <a:sym typeface="Lato Bold"/>
              </a:rPr>
              <a:t>SCOPE OF THE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88998" y="4766255"/>
            <a:ext cx="7255277" cy="305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Students must c</a:t>
            </a: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learly state:</a:t>
            </a:r>
          </a:p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Included and Not included</a:t>
            </a:r>
          </a:p>
          <a:p>
            <a:pPr algn="ctr">
              <a:lnSpc>
                <a:spcPts val="3500"/>
              </a:lnSpc>
            </a:pPr>
          </a:p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This is important because students often claim capabilities that they did not actually implement.</a:t>
            </a:r>
          </a:p>
          <a:p>
            <a:pPr algn="ctr">
              <a:lnSpc>
                <a:spcPts val="350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808629" y="365702"/>
            <a:ext cx="2101720" cy="1881733"/>
          </a:xfrm>
          <a:custGeom>
            <a:avLst/>
            <a:gdLst/>
            <a:ahLst/>
            <a:cxnLst/>
            <a:rect r="r" b="b" t="t" l="l"/>
            <a:pathLst>
              <a:path h="1881733" w="2101720">
                <a:moveTo>
                  <a:pt x="0" y="0"/>
                </a:moveTo>
                <a:lnTo>
                  <a:pt x="2101721" y="0"/>
                </a:lnTo>
                <a:lnTo>
                  <a:pt x="2101721" y="1881733"/>
                </a:lnTo>
                <a:lnTo>
                  <a:pt x="0" y="18817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5808216"/>
            <a:ext cx="16230600" cy="0"/>
          </a:xfrm>
          <a:prstGeom prst="line">
            <a:avLst/>
          </a:prstGeom>
          <a:ln cap="flat" w="38100">
            <a:solidFill>
              <a:srgbClr val="6CD9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597641" y="5217497"/>
            <a:ext cx="1181438" cy="118143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878"/>
            </a:solidFill>
            <a:ln w="19050" cap="sq">
              <a:solidFill>
                <a:srgbClr val="6CD9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476052" y="5217497"/>
            <a:ext cx="1181438" cy="118143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878"/>
            </a:solidFill>
            <a:ln w="19050" cap="sq">
              <a:solidFill>
                <a:srgbClr val="6CD9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486290" y="5217497"/>
            <a:ext cx="1181438" cy="118143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878"/>
            </a:solidFill>
            <a:ln w="19050" cap="sq">
              <a:solidFill>
                <a:srgbClr val="6CD9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496528" y="5143500"/>
            <a:ext cx="1181438" cy="118143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878"/>
            </a:solidFill>
            <a:ln w="19050" cap="sq">
              <a:solidFill>
                <a:srgbClr val="6CD9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506766" y="5143500"/>
            <a:ext cx="1181438" cy="1181438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878"/>
            </a:solidFill>
            <a:ln w="19050" cap="sq">
              <a:solidFill>
                <a:srgbClr val="6CD9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2703900" y="-1108170"/>
            <a:ext cx="5968607" cy="5570700"/>
          </a:xfrm>
          <a:custGeom>
            <a:avLst/>
            <a:gdLst/>
            <a:ahLst/>
            <a:cxnLst/>
            <a:rect r="r" b="b" t="t" l="l"/>
            <a:pathLst>
              <a:path h="5570700" w="5968607">
                <a:moveTo>
                  <a:pt x="0" y="0"/>
                </a:moveTo>
                <a:lnTo>
                  <a:pt x="5968607" y="0"/>
                </a:lnTo>
                <a:lnTo>
                  <a:pt x="5968607" y="5570700"/>
                </a:lnTo>
                <a:lnTo>
                  <a:pt x="0" y="5570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896419" y="5472000"/>
            <a:ext cx="583883" cy="672431"/>
          </a:xfrm>
          <a:custGeom>
            <a:avLst/>
            <a:gdLst/>
            <a:ahLst/>
            <a:cxnLst/>
            <a:rect r="r" b="b" t="t" l="l"/>
            <a:pathLst>
              <a:path h="672431" w="583883">
                <a:moveTo>
                  <a:pt x="0" y="0"/>
                </a:moveTo>
                <a:lnTo>
                  <a:pt x="583883" y="0"/>
                </a:lnTo>
                <a:lnTo>
                  <a:pt x="583883" y="672431"/>
                </a:lnTo>
                <a:lnTo>
                  <a:pt x="0" y="6724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727598" y="5392748"/>
            <a:ext cx="678346" cy="830936"/>
          </a:xfrm>
          <a:custGeom>
            <a:avLst/>
            <a:gdLst/>
            <a:ahLst/>
            <a:cxnLst/>
            <a:rect r="r" b="b" t="t" l="l"/>
            <a:pathLst>
              <a:path h="830936" w="678346">
                <a:moveTo>
                  <a:pt x="0" y="0"/>
                </a:moveTo>
                <a:lnTo>
                  <a:pt x="678346" y="0"/>
                </a:lnTo>
                <a:lnTo>
                  <a:pt x="678346" y="830936"/>
                </a:lnTo>
                <a:lnTo>
                  <a:pt x="0" y="8309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731367" y="5472000"/>
            <a:ext cx="691284" cy="672431"/>
          </a:xfrm>
          <a:custGeom>
            <a:avLst/>
            <a:gdLst/>
            <a:ahLst/>
            <a:cxnLst/>
            <a:rect r="r" b="b" t="t" l="l"/>
            <a:pathLst>
              <a:path h="672431" w="691284">
                <a:moveTo>
                  <a:pt x="0" y="0"/>
                </a:moveTo>
                <a:lnTo>
                  <a:pt x="691284" y="0"/>
                </a:lnTo>
                <a:lnTo>
                  <a:pt x="691284" y="672431"/>
                </a:lnTo>
                <a:lnTo>
                  <a:pt x="0" y="6724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678039" y="5388806"/>
            <a:ext cx="793224" cy="690826"/>
          </a:xfrm>
          <a:custGeom>
            <a:avLst/>
            <a:gdLst/>
            <a:ahLst/>
            <a:cxnLst/>
            <a:rect r="r" b="b" t="t" l="l"/>
            <a:pathLst>
              <a:path h="690826" w="793224">
                <a:moveTo>
                  <a:pt x="0" y="0"/>
                </a:moveTo>
                <a:lnTo>
                  <a:pt x="793224" y="0"/>
                </a:lnTo>
                <a:lnTo>
                  <a:pt x="793224" y="690826"/>
                </a:lnTo>
                <a:lnTo>
                  <a:pt x="0" y="6908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756422" y="5406799"/>
            <a:ext cx="682125" cy="654840"/>
          </a:xfrm>
          <a:custGeom>
            <a:avLst/>
            <a:gdLst/>
            <a:ahLst/>
            <a:cxnLst/>
            <a:rect r="r" b="b" t="t" l="l"/>
            <a:pathLst>
              <a:path h="654840" w="682125">
                <a:moveTo>
                  <a:pt x="0" y="0"/>
                </a:moveTo>
                <a:lnTo>
                  <a:pt x="682125" y="0"/>
                </a:lnTo>
                <a:lnTo>
                  <a:pt x="682125" y="654840"/>
                </a:lnTo>
                <a:lnTo>
                  <a:pt x="0" y="65484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1237605">
            <a:off x="-1059959" y="7577116"/>
            <a:ext cx="7315200" cy="3441640"/>
          </a:xfrm>
          <a:custGeom>
            <a:avLst/>
            <a:gdLst/>
            <a:ahLst/>
            <a:cxnLst/>
            <a:rect r="r" b="b" t="t" l="l"/>
            <a:pathLst>
              <a:path h="3441640" w="7315200">
                <a:moveTo>
                  <a:pt x="0" y="0"/>
                </a:moveTo>
                <a:lnTo>
                  <a:pt x="7315200" y="0"/>
                </a:lnTo>
                <a:lnTo>
                  <a:pt x="7315200" y="3441641"/>
                </a:lnTo>
                <a:lnTo>
                  <a:pt x="0" y="344164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28700" y="782689"/>
            <a:ext cx="8758333" cy="2881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69"/>
              </a:lnSpc>
            </a:pPr>
            <a:r>
              <a:rPr lang="en-US" sz="9799" b="true">
                <a:solidFill>
                  <a:srgbClr val="D8E2F0"/>
                </a:solidFill>
                <a:latin typeface="Lato Bold"/>
                <a:ea typeface="Lato Bold"/>
                <a:cs typeface="Lato Bold"/>
                <a:sym typeface="Lato Bold"/>
              </a:rPr>
              <a:t>PROPOSED SYSTEM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3795656"/>
            <a:ext cx="15595677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This shou</a:t>
            </a: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ld be one of the most important slides.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Students should show a high-level architecture diagram.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The diagram should show:</a:t>
            </a:r>
          </a:p>
          <a:p>
            <a:pPr algn="l">
              <a:lnSpc>
                <a:spcPts val="3500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846702" y="7387629"/>
            <a:ext cx="2683317" cy="8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nderstand assets and risks.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41275" y="6665635"/>
            <a:ext cx="309417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b="true" sz="2700">
                <a:solidFill>
                  <a:srgbClr val="6CD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IDENTIFY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463556" y="6665635"/>
            <a:ext cx="309417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b="true" sz="2700">
                <a:solidFill>
                  <a:srgbClr val="6CD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PROTECT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529923" y="6665635"/>
            <a:ext cx="309417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b="true" sz="2700">
                <a:solidFill>
                  <a:srgbClr val="6CD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DETECT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540161" y="6665635"/>
            <a:ext cx="309417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b="true" sz="2700">
                <a:solidFill>
                  <a:srgbClr val="6CD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RESPOND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634332" y="6665635"/>
            <a:ext cx="309417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b="true" sz="2700">
                <a:solidFill>
                  <a:srgbClr val="6CD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RECOVER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735446" y="7387629"/>
            <a:ext cx="2683317" cy="1298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Impleme</a:t>
            </a: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nt safeguards and controls.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735350" y="7387629"/>
            <a:ext cx="2683317" cy="1298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Mo</a:t>
            </a: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nitor and identify anomalies.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732992" y="7463829"/>
            <a:ext cx="2683317" cy="8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Co</a:t>
            </a: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ntain and mitigate threats.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839759" y="7432079"/>
            <a:ext cx="2683317" cy="1736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Res</a:t>
            </a: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tore operations and improve resilience.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15808629" y="365702"/>
            <a:ext cx="2101720" cy="1881733"/>
          </a:xfrm>
          <a:custGeom>
            <a:avLst/>
            <a:gdLst/>
            <a:ahLst/>
            <a:cxnLst/>
            <a:rect r="r" b="b" t="t" l="l"/>
            <a:pathLst>
              <a:path h="1881733" w="2101720">
                <a:moveTo>
                  <a:pt x="0" y="0"/>
                </a:moveTo>
                <a:lnTo>
                  <a:pt x="2101721" y="0"/>
                </a:lnTo>
                <a:lnTo>
                  <a:pt x="2101721" y="1881733"/>
                </a:lnTo>
                <a:lnTo>
                  <a:pt x="0" y="188173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4350" y="807259"/>
            <a:ext cx="11563879" cy="2881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69"/>
              </a:lnSpc>
            </a:pPr>
            <a:r>
              <a:rPr lang="en-US" sz="9799" b="true">
                <a:solidFill>
                  <a:srgbClr val="D8E2F0"/>
                </a:solidFill>
                <a:latin typeface="Lato Bold"/>
                <a:ea typeface="Lato Bold"/>
                <a:cs typeface="Lato Bold"/>
                <a:sym typeface="Lato Bold"/>
              </a:rPr>
              <a:t>SYSTEM ARCHITECTURE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633153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86889" y="3641264"/>
            <a:ext cx="8114223" cy="699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Go one level deeper than the previous sl</a:t>
            </a: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ide.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Show actual components such as: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Endpoint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Agent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SIEM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Database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Detection engine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AI/ML model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API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Dashboard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SOAR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Firewall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Analyst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Students should explain how data moves between components.</a:t>
            </a:r>
          </a:p>
          <a:p>
            <a:pPr algn="l">
              <a:lnSpc>
                <a:spcPts val="3500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13658850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808629" y="365702"/>
            <a:ext cx="2101720" cy="1881733"/>
          </a:xfrm>
          <a:custGeom>
            <a:avLst/>
            <a:gdLst/>
            <a:ahLst/>
            <a:cxnLst/>
            <a:rect r="r" b="b" t="t" l="l"/>
            <a:pathLst>
              <a:path h="1881733" w="2101720">
                <a:moveTo>
                  <a:pt x="0" y="0"/>
                </a:moveTo>
                <a:lnTo>
                  <a:pt x="2101721" y="0"/>
                </a:lnTo>
                <a:lnTo>
                  <a:pt x="2101721" y="1881733"/>
                </a:lnTo>
                <a:lnTo>
                  <a:pt x="0" y="18817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66150" y="3845000"/>
            <a:ext cx="3147355" cy="3882416"/>
            <a:chOff x="0" y="0"/>
            <a:chExt cx="828933" cy="10225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28933" cy="1022529"/>
            </a:xfrm>
            <a:custGeom>
              <a:avLst/>
              <a:gdLst/>
              <a:ahLst/>
              <a:cxnLst/>
              <a:rect r="r" b="b" t="t" l="l"/>
              <a:pathLst>
                <a:path h="1022529" w="828933">
                  <a:moveTo>
                    <a:pt x="34437" y="0"/>
                  </a:moveTo>
                  <a:lnTo>
                    <a:pt x="794496" y="0"/>
                  </a:lnTo>
                  <a:cubicBezTo>
                    <a:pt x="803629" y="0"/>
                    <a:pt x="812388" y="3628"/>
                    <a:pt x="818847" y="10086"/>
                  </a:cubicBezTo>
                  <a:cubicBezTo>
                    <a:pt x="825305" y="16545"/>
                    <a:pt x="828933" y="25304"/>
                    <a:pt x="828933" y="34437"/>
                  </a:cubicBezTo>
                  <a:lnTo>
                    <a:pt x="828933" y="988092"/>
                  </a:lnTo>
                  <a:cubicBezTo>
                    <a:pt x="828933" y="1007111"/>
                    <a:pt x="813515" y="1022529"/>
                    <a:pt x="794496" y="1022529"/>
                  </a:cubicBezTo>
                  <a:lnTo>
                    <a:pt x="34437" y="1022529"/>
                  </a:lnTo>
                  <a:cubicBezTo>
                    <a:pt x="15418" y="1022529"/>
                    <a:pt x="0" y="1007111"/>
                    <a:pt x="0" y="988092"/>
                  </a:cubicBezTo>
                  <a:lnTo>
                    <a:pt x="0" y="34437"/>
                  </a:lnTo>
                  <a:cubicBezTo>
                    <a:pt x="0" y="25304"/>
                    <a:pt x="3628" y="16545"/>
                    <a:pt x="10086" y="10086"/>
                  </a:cubicBezTo>
                  <a:cubicBezTo>
                    <a:pt x="16545" y="3628"/>
                    <a:pt x="25304" y="0"/>
                    <a:pt x="34437" y="0"/>
                  </a:cubicBezTo>
                  <a:close/>
                </a:path>
              </a:pathLst>
            </a:custGeom>
            <a:ln w="28575" cap="sq">
              <a:solidFill>
                <a:srgbClr val="6CD9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28933" cy="1060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70730" y="3845000"/>
            <a:ext cx="3147355" cy="5540570"/>
            <a:chOff x="0" y="0"/>
            <a:chExt cx="828933" cy="14592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28933" cy="1459245"/>
            </a:xfrm>
            <a:custGeom>
              <a:avLst/>
              <a:gdLst/>
              <a:ahLst/>
              <a:cxnLst/>
              <a:rect r="r" b="b" t="t" l="l"/>
              <a:pathLst>
                <a:path h="1459245" w="828933">
                  <a:moveTo>
                    <a:pt x="34437" y="0"/>
                  </a:moveTo>
                  <a:lnTo>
                    <a:pt x="794496" y="0"/>
                  </a:lnTo>
                  <a:cubicBezTo>
                    <a:pt x="803629" y="0"/>
                    <a:pt x="812388" y="3628"/>
                    <a:pt x="818847" y="10086"/>
                  </a:cubicBezTo>
                  <a:cubicBezTo>
                    <a:pt x="825305" y="16545"/>
                    <a:pt x="828933" y="25304"/>
                    <a:pt x="828933" y="34437"/>
                  </a:cubicBezTo>
                  <a:lnTo>
                    <a:pt x="828933" y="1424807"/>
                  </a:lnTo>
                  <a:cubicBezTo>
                    <a:pt x="828933" y="1443827"/>
                    <a:pt x="813515" y="1459245"/>
                    <a:pt x="794496" y="1459245"/>
                  </a:cubicBezTo>
                  <a:lnTo>
                    <a:pt x="34437" y="1459245"/>
                  </a:lnTo>
                  <a:cubicBezTo>
                    <a:pt x="25304" y="1459245"/>
                    <a:pt x="16545" y="1455617"/>
                    <a:pt x="10086" y="1449158"/>
                  </a:cubicBezTo>
                  <a:cubicBezTo>
                    <a:pt x="3628" y="1442700"/>
                    <a:pt x="0" y="1433941"/>
                    <a:pt x="0" y="1424807"/>
                  </a:cubicBezTo>
                  <a:lnTo>
                    <a:pt x="0" y="34437"/>
                  </a:lnTo>
                  <a:cubicBezTo>
                    <a:pt x="0" y="25304"/>
                    <a:pt x="3628" y="16545"/>
                    <a:pt x="10086" y="10086"/>
                  </a:cubicBezTo>
                  <a:cubicBezTo>
                    <a:pt x="16545" y="3628"/>
                    <a:pt x="25304" y="0"/>
                    <a:pt x="34437" y="0"/>
                  </a:cubicBezTo>
                  <a:close/>
                </a:path>
              </a:pathLst>
            </a:custGeom>
            <a:ln w="28575" cap="sq">
              <a:solidFill>
                <a:srgbClr val="6CD9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28933" cy="1497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275310" y="3845000"/>
            <a:ext cx="3147355" cy="5540570"/>
            <a:chOff x="0" y="0"/>
            <a:chExt cx="828933" cy="14592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8933" cy="1459245"/>
            </a:xfrm>
            <a:custGeom>
              <a:avLst/>
              <a:gdLst/>
              <a:ahLst/>
              <a:cxnLst/>
              <a:rect r="r" b="b" t="t" l="l"/>
              <a:pathLst>
                <a:path h="1459245" w="828933">
                  <a:moveTo>
                    <a:pt x="34437" y="0"/>
                  </a:moveTo>
                  <a:lnTo>
                    <a:pt x="794496" y="0"/>
                  </a:lnTo>
                  <a:cubicBezTo>
                    <a:pt x="803629" y="0"/>
                    <a:pt x="812388" y="3628"/>
                    <a:pt x="818847" y="10086"/>
                  </a:cubicBezTo>
                  <a:cubicBezTo>
                    <a:pt x="825305" y="16545"/>
                    <a:pt x="828933" y="25304"/>
                    <a:pt x="828933" y="34437"/>
                  </a:cubicBezTo>
                  <a:lnTo>
                    <a:pt x="828933" y="1424807"/>
                  </a:lnTo>
                  <a:cubicBezTo>
                    <a:pt x="828933" y="1443827"/>
                    <a:pt x="813515" y="1459245"/>
                    <a:pt x="794496" y="1459245"/>
                  </a:cubicBezTo>
                  <a:lnTo>
                    <a:pt x="34437" y="1459245"/>
                  </a:lnTo>
                  <a:cubicBezTo>
                    <a:pt x="25304" y="1459245"/>
                    <a:pt x="16545" y="1455617"/>
                    <a:pt x="10086" y="1449158"/>
                  </a:cubicBezTo>
                  <a:cubicBezTo>
                    <a:pt x="3628" y="1442700"/>
                    <a:pt x="0" y="1433941"/>
                    <a:pt x="0" y="1424807"/>
                  </a:cubicBezTo>
                  <a:lnTo>
                    <a:pt x="0" y="34437"/>
                  </a:lnTo>
                  <a:cubicBezTo>
                    <a:pt x="0" y="25304"/>
                    <a:pt x="3628" y="16545"/>
                    <a:pt x="10086" y="10086"/>
                  </a:cubicBezTo>
                  <a:cubicBezTo>
                    <a:pt x="16545" y="3628"/>
                    <a:pt x="25304" y="0"/>
                    <a:pt x="34437" y="0"/>
                  </a:cubicBezTo>
                  <a:close/>
                </a:path>
              </a:pathLst>
            </a:custGeom>
            <a:ln w="28575" cap="sq">
              <a:solidFill>
                <a:srgbClr val="6CD9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28933" cy="1497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2266758">
            <a:off x="-2014483" y="-794958"/>
            <a:ext cx="7698747" cy="3622091"/>
          </a:xfrm>
          <a:custGeom>
            <a:avLst/>
            <a:gdLst/>
            <a:ahLst/>
            <a:cxnLst/>
            <a:rect r="r" b="b" t="t" l="l"/>
            <a:pathLst>
              <a:path h="3622091" w="7698747">
                <a:moveTo>
                  <a:pt x="0" y="0"/>
                </a:moveTo>
                <a:lnTo>
                  <a:pt x="7698747" y="0"/>
                </a:lnTo>
                <a:lnTo>
                  <a:pt x="7698747" y="3622091"/>
                </a:lnTo>
                <a:lnTo>
                  <a:pt x="0" y="36220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771433" y="1049437"/>
            <a:ext cx="10745134" cy="223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3"/>
              </a:lnSpc>
            </a:pPr>
            <a:r>
              <a:rPr lang="en-US" b="true" sz="9187">
                <a:solidFill>
                  <a:srgbClr val="D8E2F0"/>
                </a:solidFill>
                <a:latin typeface="Lato Bold"/>
                <a:ea typeface="Lato Bold"/>
                <a:cs typeface="Lato Bold"/>
                <a:sym typeface="Lato Bold"/>
              </a:rPr>
              <a:t>TECHNOLOGIES USED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2330652">
            <a:off x="13124511" y="-794958"/>
            <a:ext cx="7698747" cy="3622091"/>
          </a:xfrm>
          <a:custGeom>
            <a:avLst/>
            <a:gdLst/>
            <a:ahLst/>
            <a:cxnLst/>
            <a:rect r="r" b="b" t="t" l="l"/>
            <a:pathLst>
              <a:path h="3622091" w="7698747">
                <a:moveTo>
                  <a:pt x="0" y="0"/>
                </a:moveTo>
                <a:lnTo>
                  <a:pt x="7698747" y="0"/>
                </a:lnTo>
                <a:lnTo>
                  <a:pt x="7698747" y="3622091"/>
                </a:lnTo>
                <a:lnTo>
                  <a:pt x="0" y="36220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2632896">
            <a:off x="7670948" y="6323716"/>
            <a:ext cx="4092356" cy="4114800"/>
          </a:xfrm>
          <a:custGeom>
            <a:avLst/>
            <a:gdLst/>
            <a:ahLst/>
            <a:cxnLst/>
            <a:rect r="r" b="b" t="t" l="l"/>
            <a:pathLst>
              <a:path h="4114800" w="4092356">
                <a:moveTo>
                  <a:pt x="0" y="0"/>
                </a:moveTo>
                <a:lnTo>
                  <a:pt x="4092355" y="0"/>
                </a:lnTo>
                <a:lnTo>
                  <a:pt x="40923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479829" y="3994002"/>
            <a:ext cx="3303232" cy="47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6"/>
              </a:lnSpc>
            </a:pPr>
            <a:r>
              <a:rPr lang="en-US" b="true" sz="2840">
                <a:solidFill>
                  <a:srgbClr val="D8E2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SECUR</a:t>
            </a:r>
            <a:r>
              <a:rPr lang="en-US" b="true" sz="2840">
                <a:solidFill>
                  <a:srgbClr val="D8E2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574872" y="4668720"/>
            <a:ext cx="3113147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MITRE ATT&amp;CK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YARA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Sigm</a:t>
            </a: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OWASP CRS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IOC analysis</a:t>
            </a:r>
          </a:p>
          <a:p>
            <a:pPr algn="l">
              <a:lnSpc>
                <a:spcPts val="350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9717125" y="4123731"/>
            <a:ext cx="2866536" cy="47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6"/>
              </a:lnSpc>
            </a:pPr>
            <a:r>
              <a:rPr lang="en-US" b="true" sz="2840">
                <a:solidFill>
                  <a:srgbClr val="D8E2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SOFTWARE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93820" y="4793349"/>
            <a:ext cx="3113147" cy="480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Wazuh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Hubble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Cilium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Kubern</a:t>
            </a: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tes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Linux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Python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Elasticsearch/OpenSearch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Grafana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Docker</a:t>
            </a:r>
          </a:p>
          <a:p>
            <a:pPr algn="l">
              <a:lnSpc>
                <a:spcPts val="3500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3415720" y="3994002"/>
            <a:ext cx="2866536" cy="47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6"/>
              </a:lnSpc>
            </a:pPr>
            <a:r>
              <a:rPr lang="en-US" b="true" sz="2840">
                <a:solidFill>
                  <a:srgbClr val="D8E2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AI/ML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275310" y="4785130"/>
            <a:ext cx="3147355" cy="359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732" indent="-248366" lvl="1">
              <a:lnSpc>
                <a:spcPts val="3221"/>
              </a:lnSpc>
              <a:buFont typeface="Arial"/>
              <a:buChar char="•"/>
            </a:pPr>
            <a:r>
              <a:rPr lang="en-US" sz="23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 algori</a:t>
            </a:r>
            <a:r>
              <a:rPr lang="en-US" sz="23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thm</a:t>
            </a:r>
          </a:p>
          <a:p>
            <a:pPr algn="l" marL="496732" indent="-248366" lvl="1">
              <a:lnSpc>
                <a:spcPts val="3221"/>
              </a:lnSpc>
              <a:buFont typeface="Arial"/>
              <a:buChar char="•"/>
            </a:pPr>
            <a:r>
              <a:rPr lang="en-US" sz="23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LLM</a:t>
            </a:r>
          </a:p>
          <a:p>
            <a:pPr algn="l" marL="496732" indent="-248366" lvl="1">
              <a:lnSpc>
                <a:spcPts val="3221"/>
              </a:lnSpc>
              <a:buFont typeface="Arial"/>
              <a:buChar char="•"/>
            </a:pPr>
            <a:r>
              <a:rPr lang="en-US" sz="23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Anomaly detection</a:t>
            </a:r>
          </a:p>
          <a:p>
            <a:pPr algn="l" marL="496732" indent="-248366" lvl="1">
              <a:lnSpc>
                <a:spcPts val="3221"/>
              </a:lnSpc>
              <a:buFont typeface="Arial"/>
              <a:buChar char="•"/>
            </a:pPr>
            <a:r>
              <a:rPr lang="en-US" sz="23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Classification</a:t>
            </a:r>
          </a:p>
          <a:p>
            <a:pPr algn="l" marL="496732" indent="-248366" lvl="1">
              <a:lnSpc>
                <a:spcPts val="3221"/>
              </a:lnSpc>
              <a:buFont typeface="Arial"/>
              <a:buChar char="•"/>
            </a:pPr>
            <a:r>
              <a:rPr lang="en-US" sz="23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Behavioral analysis</a:t>
            </a:r>
          </a:p>
          <a:p>
            <a:pPr algn="l">
              <a:lnSpc>
                <a:spcPts val="3221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5951914" y="3250411"/>
            <a:ext cx="566229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Students should identify exactly what they used.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5808629" y="365702"/>
            <a:ext cx="2101720" cy="1881733"/>
          </a:xfrm>
          <a:custGeom>
            <a:avLst/>
            <a:gdLst/>
            <a:ahLst/>
            <a:cxnLst/>
            <a:rect r="r" b="b" t="t" l="l"/>
            <a:pathLst>
              <a:path h="1881733" w="2101720">
                <a:moveTo>
                  <a:pt x="0" y="0"/>
                </a:moveTo>
                <a:lnTo>
                  <a:pt x="2101721" y="0"/>
                </a:lnTo>
                <a:lnTo>
                  <a:pt x="2101721" y="1881733"/>
                </a:lnTo>
                <a:lnTo>
                  <a:pt x="0" y="18817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0038" y="7929838"/>
            <a:ext cx="4310743" cy="4114800"/>
          </a:xfrm>
          <a:custGeom>
            <a:avLst/>
            <a:gdLst/>
            <a:ahLst/>
            <a:cxnLst/>
            <a:rect r="r" b="b" t="t" l="l"/>
            <a:pathLst>
              <a:path h="4114800" w="4310743">
                <a:moveTo>
                  <a:pt x="0" y="0"/>
                </a:moveTo>
                <a:lnTo>
                  <a:pt x="4310743" y="0"/>
                </a:lnTo>
                <a:lnTo>
                  <a:pt x="43107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487638" y="7929838"/>
            <a:ext cx="4310743" cy="4114800"/>
          </a:xfrm>
          <a:custGeom>
            <a:avLst/>
            <a:gdLst/>
            <a:ahLst/>
            <a:cxnLst/>
            <a:rect r="r" b="b" t="t" l="l"/>
            <a:pathLst>
              <a:path h="4114800" w="4310743">
                <a:moveTo>
                  <a:pt x="0" y="0"/>
                </a:moveTo>
                <a:lnTo>
                  <a:pt x="4310743" y="0"/>
                </a:lnTo>
                <a:lnTo>
                  <a:pt x="43107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6813947">
            <a:off x="13412535" y="-24380"/>
            <a:ext cx="5133170" cy="3397225"/>
          </a:xfrm>
          <a:custGeom>
            <a:avLst/>
            <a:gdLst/>
            <a:ahLst/>
            <a:cxnLst/>
            <a:rect r="r" b="b" t="t" l="l"/>
            <a:pathLst>
              <a:path h="3397225" w="5133170">
                <a:moveTo>
                  <a:pt x="0" y="0"/>
                </a:moveTo>
                <a:lnTo>
                  <a:pt x="5133170" y="0"/>
                </a:lnTo>
                <a:lnTo>
                  <a:pt x="5133170" y="3397225"/>
                </a:lnTo>
                <a:lnTo>
                  <a:pt x="0" y="33972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13564" y="1018651"/>
            <a:ext cx="13256618" cy="224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43"/>
              </a:lnSpc>
            </a:pPr>
            <a:r>
              <a:rPr lang="en-US" sz="9187" b="true">
                <a:solidFill>
                  <a:srgbClr val="D8E2F0"/>
                </a:solidFill>
                <a:latin typeface="Lato Bold"/>
                <a:ea typeface="Lato Bold"/>
                <a:cs typeface="Lato Bold"/>
                <a:sym typeface="Lato Bold"/>
              </a:rPr>
              <a:t>DETECTION METHODOLOGY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84377" y="3865718"/>
            <a:ext cx="825261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Students must explain exactly how detection works.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84377" y="4887768"/>
            <a:ext cx="10885805" cy="392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If AI is used, they must explain: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Input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Features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Model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Output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Threshold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Training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Validation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Do not allow “AI detects attacks” without explaining the mechanism.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808629" y="365702"/>
            <a:ext cx="2101720" cy="1881733"/>
          </a:xfrm>
          <a:custGeom>
            <a:avLst/>
            <a:gdLst/>
            <a:ahLst/>
            <a:cxnLst/>
            <a:rect r="r" b="b" t="t" l="l"/>
            <a:pathLst>
              <a:path h="1881733" w="2101720">
                <a:moveTo>
                  <a:pt x="0" y="0"/>
                </a:moveTo>
                <a:lnTo>
                  <a:pt x="2101721" y="0"/>
                </a:lnTo>
                <a:lnTo>
                  <a:pt x="2101721" y="1881733"/>
                </a:lnTo>
                <a:lnTo>
                  <a:pt x="0" y="18817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266758">
            <a:off x="-2014483" y="-794958"/>
            <a:ext cx="7698747" cy="3622091"/>
          </a:xfrm>
          <a:custGeom>
            <a:avLst/>
            <a:gdLst/>
            <a:ahLst/>
            <a:cxnLst/>
            <a:rect r="r" b="b" t="t" l="l"/>
            <a:pathLst>
              <a:path h="3622091" w="7698747">
                <a:moveTo>
                  <a:pt x="0" y="0"/>
                </a:moveTo>
                <a:lnTo>
                  <a:pt x="7698747" y="0"/>
                </a:lnTo>
                <a:lnTo>
                  <a:pt x="7698747" y="3622091"/>
                </a:lnTo>
                <a:lnTo>
                  <a:pt x="0" y="36220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71433" y="1049437"/>
            <a:ext cx="10745134" cy="223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3"/>
              </a:lnSpc>
            </a:pPr>
            <a:r>
              <a:rPr lang="en-US" b="true" sz="9187">
                <a:solidFill>
                  <a:srgbClr val="D8E2F0"/>
                </a:solidFill>
                <a:latin typeface="Lato Bold"/>
                <a:ea typeface="Lato Bold"/>
                <a:cs typeface="Lato Bold"/>
                <a:sym typeface="Lato Bold"/>
              </a:rPr>
              <a:t>THREAT SCENARIOS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2330652">
            <a:off x="13124511" y="-794958"/>
            <a:ext cx="7698747" cy="3622091"/>
          </a:xfrm>
          <a:custGeom>
            <a:avLst/>
            <a:gdLst/>
            <a:ahLst/>
            <a:cxnLst/>
            <a:rect r="r" b="b" t="t" l="l"/>
            <a:pathLst>
              <a:path h="3622091" w="7698747">
                <a:moveTo>
                  <a:pt x="0" y="0"/>
                </a:moveTo>
                <a:lnTo>
                  <a:pt x="7698747" y="0"/>
                </a:lnTo>
                <a:lnTo>
                  <a:pt x="7698747" y="3622091"/>
                </a:lnTo>
                <a:lnTo>
                  <a:pt x="0" y="36220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32497" y="3176732"/>
            <a:ext cx="7289006" cy="699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D8E2F0"/>
                </a:solidFill>
                <a:latin typeface="Montserrat"/>
                <a:ea typeface="Montserrat"/>
                <a:cs typeface="Montserrat"/>
                <a:sym typeface="Montserrat"/>
              </a:rPr>
              <a:t>Students should demonstrate realistic attacks</a:t>
            </a:r>
          </a:p>
          <a:p>
            <a:pPr algn="just">
              <a:lnSpc>
                <a:spcPts val="3500"/>
              </a:lnSpc>
              <a:spcBef>
                <a:spcPct val="0"/>
              </a:spcBef>
            </a:pPr>
          </a:p>
          <a:p>
            <a:pPr algn="just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D8E2F0"/>
                </a:solidFill>
                <a:latin typeface="Montserrat"/>
                <a:ea typeface="Montserrat"/>
                <a:cs typeface="Montserrat"/>
                <a:sym typeface="Montserrat"/>
              </a:rPr>
              <a:t>Linux SOC</a:t>
            </a:r>
          </a:p>
          <a:p>
            <a:pPr algn="just" marL="539753" indent="-269876" lvl="1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>
                <a:solidFill>
                  <a:srgbClr val="D8E2F0"/>
                </a:solidFill>
                <a:latin typeface="Montserrat"/>
                <a:ea typeface="Montserrat"/>
                <a:cs typeface="Montserrat"/>
                <a:sym typeface="Montserrat"/>
              </a:rPr>
              <a:t>Brute force</a:t>
            </a:r>
          </a:p>
          <a:p>
            <a:pPr algn="just" marL="539753" indent="-269876" lvl="1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>
                <a:solidFill>
                  <a:srgbClr val="D8E2F0"/>
                </a:solidFill>
                <a:latin typeface="Montserrat"/>
                <a:ea typeface="Montserrat"/>
                <a:cs typeface="Montserrat"/>
                <a:sym typeface="Montserrat"/>
              </a:rPr>
              <a:t>Privilege escalation</a:t>
            </a:r>
          </a:p>
          <a:p>
            <a:pPr algn="just" marL="539753" indent="-269876" lvl="1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>
                <a:solidFill>
                  <a:srgbClr val="D8E2F0"/>
                </a:solidFill>
                <a:latin typeface="Montserrat"/>
                <a:ea typeface="Montserrat"/>
                <a:cs typeface="Montserrat"/>
                <a:sym typeface="Montserrat"/>
              </a:rPr>
              <a:t>Suspicious process execution</a:t>
            </a:r>
          </a:p>
          <a:p>
            <a:pPr algn="just" marL="539753" indent="-269876" lvl="1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>
                <a:solidFill>
                  <a:srgbClr val="D8E2F0"/>
                </a:solidFill>
                <a:latin typeface="Montserrat"/>
                <a:ea typeface="Montserrat"/>
                <a:cs typeface="Montserrat"/>
                <a:sym typeface="Montserrat"/>
              </a:rPr>
              <a:t>Reverse shell</a:t>
            </a:r>
          </a:p>
          <a:p>
            <a:pPr algn="just" marL="539753" indent="-269876" lvl="1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>
                <a:solidFill>
                  <a:srgbClr val="D8E2F0"/>
                </a:solidFill>
                <a:latin typeface="Montserrat"/>
                <a:ea typeface="Montserrat"/>
                <a:cs typeface="Montserrat"/>
                <a:sym typeface="Montserrat"/>
              </a:rPr>
              <a:t>Persistence</a:t>
            </a:r>
          </a:p>
          <a:p>
            <a:pPr algn="just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D8E2F0"/>
                </a:solidFill>
                <a:latin typeface="Montserrat"/>
                <a:ea typeface="Montserrat"/>
                <a:cs typeface="Montserrat"/>
                <a:sym typeface="Montserrat"/>
              </a:rPr>
              <a:t>Web Security</a:t>
            </a:r>
          </a:p>
          <a:p>
            <a:pPr algn="just" marL="539753" indent="-269876" lvl="1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>
                <a:solidFill>
                  <a:srgbClr val="D8E2F0"/>
                </a:solidFill>
                <a:latin typeface="Montserrat"/>
                <a:ea typeface="Montserrat"/>
                <a:cs typeface="Montserrat"/>
                <a:sym typeface="Montserrat"/>
              </a:rPr>
              <a:t>SQL Injection</a:t>
            </a:r>
          </a:p>
          <a:p>
            <a:pPr algn="just" marL="539753" indent="-269876" lvl="1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>
                <a:solidFill>
                  <a:srgbClr val="D8E2F0"/>
                </a:solidFill>
                <a:latin typeface="Montserrat"/>
                <a:ea typeface="Montserrat"/>
                <a:cs typeface="Montserrat"/>
                <a:sym typeface="Montserrat"/>
              </a:rPr>
              <a:t>XSS</a:t>
            </a:r>
          </a:p>
          <a:p>
            <a:pPr algn="just" marL="539753" indent="-269876" lvl="1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>
                <a:solidFill>
                  <a:srgbClr val="D8E2F0"/>
                </a:solidFill>
                <a:latin typeface="Montserrat"/>
                <a:ea typeface="Montserrat"/>
                <a:cs typeface="Montserrat"/>
                <a:sym typeface="Montserrat"/>
              </a:rPr>
              <a:t>Command Injection</a:t>
            </a:r>
          </a:p>
          <a:p>
            <a:pPr algn="just" marL="539753" indent="-269876" lvl="1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>
                <a:solidFill>
                  <a:srgbClr val="D8E2F0"/>
                </a:solidFill>
                <a:latin typeface="Montserrat"/>
                <a:ea typeface="Montserrat"/>
                <a:cs typeface="Montserrat"/>
                <a:sym typeface="Montserrat"/>
              </a:rPr>
              <a:t>Path Traversal</a:t>
            </a:r>
          </a:p>
          <a:p>
            <a:pPr algn="just" marL="539753" indent="-269876" lvl="1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>
                <a:solidFill>
                  <a:srgbClr val="D8E2F0"/>
                </a:solidFill>
                <a:latin typeface="Montserrat"/>
                <a:ea typeface="Montserrat"/>
                <a:cs typeface="Montserrat"/>
                <a:sym typeface="Montserrat"/>
              </a:rPr>
              <a:t>Authentication attacks</a:t>
            </a:r>
          </a:p>
          <a:p>
            <a:pPr algn="just">
              <a:lnSpc>
                <a:spcPts val="3500"/>
              </a:lnSpc>
              <a:spcBef>
                <a:spcPct val="0"/>
              </a:spcBef>
            </a:pPr>
          </a:p>
          <a:p>
            <a:pPr algn="just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318971" y="3813175"/>
            <a:ext cx="4084161" cy="611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D8E2F0"/>
                </a:solidFill>
                <a:latin typeface="Montserrat"/>
                <a:ea typeface="Montserrat"/>
                <a:cs typeface="Montserrat"/>
                <a:sym typeface="Montserrat"/>
              </a:rPr>
              <a:t>Ransomware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D8E2F0"/>
                </a:solidFill>
                <a:latin typeface="Montserrat"/>
                <a:ea typeface="Montserrat"/>
                <a:cs typeface="Montserrat"/>
                <a:sym typeface="Montserrat"/>
              </a:rPr>
              <a:t>File encryption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D8E2F0"/>
                </a:solidFill>
                <a:latin typeface="Montserrat"/>
                <a:ea typeface="Montserrat"/>
                <a:cs typeface="Montserrat"/>
                <a:sym typeface="Montserrat"/>
              </a:rPr>
              <a:t>Mass file modification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D8E2F0"/>
                </a:solidFill>
                <a:latin typeface="Montserrat"/>
                <a:ea typeface="Montserrat"/>
                <a:cs typeface="Montserrat"/>
                <a:sym typeface="Montserrat"/>
              </a:rPr>
              <a:t>Suspicious process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D8E2F0"/>
                </a:solidFill>
                <a:latin typeface="Montserrat"/>
                <a:ea typeface="Montserrat"/>
                <a:cs typeface="Montserrat"/>
                <a:sym typeface="Montserrat"/>
              </a:rPr>
              <a:t>Entropy changes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D8E2F0"/>
                </a:solidFill>
                <a:latin typeface="Montserrat"/>
                <a:ea typeface="Montserrat"/>
                <a:cs typeface="Montserrat"/>
                <a:sym typeface="Montserrat"/>
              </a:rPr>
              <a:t>Shadow copy deletion</a:t>
            </a: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D8E2F0"/>
                </a:solidFill>
                <a:latin typeface="Montserrat"/>
                <a:ea typeface="Montserrat"/>
                <a:cs typeface="Montserrat"/>
                <a:sym typeface="Montserrat"/>
              </a:rPr>
              <a:t>DLP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D8E2F0"/>
                </a:solidFill>
                <a:latin typeface="Montserrat"/>
                <a:ea typeface="Montserrat"/>
                <a:cs typeface="Montserrat"/>
                <a:sym typeface="Montserrat"/>
              </a:rPr>
              <a:t>Sensitive file access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D8E2F0"/>
                </a:solidFill>
                <a:latin typeface="Montserrat"/>
                <a:ea typeface="Montserrat"/>
                <a:cs typeface="Montserrat"/>
                <a:sym typeface="Montserrat"/>
              </a:rPr>
              <a:t>Unauthorized copying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D8E2F0"/>
                </a:solidFill>
                <a:latin typeface="Montserrat"/>
                <a:ea typeface="Montserrat"/>
                <a:cs typeface="Montserrat"/>
                <a:sym typeface="Montserrat"/>
              </a:rPr>
              <a:t>USB transfer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D8E2F0"/>
                </a:solidFill>
                <a:latin typeface="Montserrat"/>
                <a:ea typeface="Montserrat"/>
                <a:cs typeface="Montserrat"/>
                <a:sym typeface="Montserrat"/>
              </a:rPr>
              <a:t>Network exfiltration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D8E2F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3500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808629" y="365702"/>
            <a:ext cx="2101720" cy="1881733"/>
          </a:xfrm>
          <a:custGeom>
            <a:avLst/>
            <a:gdLst/>
            <a:ahLst/>
            <a:cxnLst/>
            <a:rect r="r" b="b" t="t" l="l"/>
            <a:pathLst>
              <a:path h="1881733" w="2101720">
                <a:moveTo>
                  <a:pt x="0" y="0"/>
                </a:moveTo>
                <a:lnTo>
                  <a:pt x="2101721" y="0"/>
                </a:lnTo>
                <a:lnTo>
                  <a:pt x="2101721" y="1881733"/>
                </a:lnTo>
                <a:lnTo>
                  <a:pt x="0" y="18817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13564" y="1018651"/>
            <a:ext cx="8130436" cy="224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43"/>
              </a:lnSpc>
            </a:pPr>
            <a:r>
              <a:rPr lang="en-US" sz="9187" b="true">
                <a:solidFill>
                  <a:srgbClr val="D8E2F0"/>
                </a:solidFill>
                <a:latin typeface="Lato Bold"/>
                <a:ea typeface="Lato Bold"/>
                <a:cs typeface="Lato Bold"/>
                <a:sym typeface="Lato Bold"/>
              </a:rPr>
              <a:t>DETECTION RESULTS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491701" y="4138795"/>
            <a:ext cx="6189186" cy="348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Students should show actual evidence.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Require: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Alert screenshots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Logs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Detection events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Dashboard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Attack timeline</a:t>
            </a:r>
          </a:p>
          <a:p>
            <a:pPr algn="l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Detection output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808629" y="365702"/>
            <a:ext cx="2101720" cy="1881733"/>
          </a:xfrm>
          <a:custGeom>
            <a:avLst/>
            <a:gdLst/>
            <a:ahLst/>
            <a:cxnLst/>
            <a:rect r="r" b="b" t="t" l="l"/>
            <a:pathLst>
              <a:path h="1881733" w="2101720">
                <a:moveTo>
                  <a:pt x="0" y="0"/>
                </a:moveTo>
                <a:lnTo>
                  <a:pt x="2101721" y="0"/>
                </a:lnTo>
                <a:lnTo>
                  <a:pt x="2101721" y="1881733"/>
                </a:lnTo>
                <a:lnTo>
                  <a:pt x="0" y="18817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08880" y="3669842"/>
            <a:ext cx="6594270" cy="2656925"/>
            <a:chOff x="0" y="0"/>
            <a:chExt cx="2451491" cy="9877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1491" cy="987741"/>
            </a:xfrm>
            <a:custGeom>
              <a:avLst/>
              <a:gdLst/>
              <a:ahLst/>
              <a:cxnLst/>
              <a:rect r="r" b="b" t="t" l="l"/>
              <a:pathLst>
                <a:path h="987741" w="2451491">
                  <a:moveTo>
                    <a:pt x="23481" y="0"/>
                  </a:moveTo>
                  <a:lnTo>
                    <a:pt x="2428011" y="0"/>
                  </a:lnTo>
                  <a:cubicBezTo>
                    <a:pt x="2434238" y="0"/>
                    <a:pt x="2440210" y="2474"/>
                    <a:pt x="2444614" y="6877"/>
                  </a:cubicBezTo>
                  <a:cubicBezTo>
                    <a:pt x="2449017" y="11281"/>
                    <a:pt x="2451491" y="17253"/>
                    <a:pt x="2451491" y="23481"/>
                  </a:cubicBezTo>
                  <a:lnTo>
                    <a:pt x="2451491" y="964260"/>
                  </a:lnTo>
                  <a:cubicBezTo>
                    <a:pt x="2451491" y="977228"/>
                    <a:pt x="2440979" y="987741"/>
                    <a:pt x="2428011" y="987741"/>
                  </a:cubicBezTo>
                  <a:lnTo>
                    <a:pt x="23481" y="987741"/>
                  </a:lnTo>
                  <a:cubicBezTo>
                    <a:pt x="10513" y="987741"/>
                    <a:pt x="0" y="977228"/>
                    <a:pt x="0" y="964260"/>
                  </a:cubicBezTo>
                  <a:lnTo>
                    <a:pt x="0" y="23481"/>
                  </a:lnTo>
                  <a:cubicBezTo>
                    <a:pt x="0" y="10513"/>
                    <a:pt x="10513" y="0"/>
                    <a:pt x="23481" y="0"/>
                  </a:cubicBezTo>
                  <a:close/>
                </a:path>
              </a:pathLst>
            </a:custGeom>
            <a:ln w="28575" cap="sq">
              <a:solidFill>
                <a:srgbClr val="6CD9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51491" cy="10258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08880" y="6601375"/>
            <a:ext cx="6594270" cy="2656925"/>
            <a:chOff x="0" y="0"/>
            <a:chExt cx="2451491" cy="9877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51491" cy="987741"/>
            </a:xfrm>
            <a:custGeom>
              <a:avLst/>
              <a:gdLst/>
              <a:ahLst/>
              <a:cxnLst/>
              <a:rect r="r" b="b" t="t" l="l"/>
              <a:pathLst>
                <a:path h="987741" w="2451491">
                  <a:moveTo>
                    <a:pt x="23481" y="0"/>
                  </a:moveTo>
                  <a:lnTo>
                    <a:pt x="2428011" y="0"/>
                  </a:lnTo>
                  <a:cubicBezTo>
                    <a:pt x="2434238" y="0"/>
                    <a:pt x="2440210" y="2474"/>
                    <a:pt x="2444614" y="6877"/>
                  </a:cubicBezTo>
                  <a:cubicBezTo>
                    <a:pt x="2449017" y="11281"/>
                    <a:pt x="2451491" y="17253"/>
                    <a:pt x="2451491" y="23481"/>
                  </a:cubicBezTo>
                  <a:lnTo>
                    <a:pt x="2451491" y="964260"/>
                  </a:lnTo>
                  <a:cubicBezTo>
                    <a:pt x="2451491" y="977228"/>
                    <a:pt x="2440979" y="987741"/>
                    <a:pt x="2428011" y="987741"/>
                  </a:cubicBezTo>
                  <a:lnTo>
                    <a:pt x="23481" y="987741"/>
                  </a:lnTo>
                  <a:cubicBezTo>
                    <a:pt x="10513" y="987741"/>
                    <a:pt x="0" y="977228"/>
                    <a:pt x="0" y="964260"/>
                  </a:cubicBezTo>
                  <a:lnTo>
                    <a:pt x="0" y="23481"/>
                  </a:lnTo>
                  <a:cubicBezTo>
                    <a:pt x="0" y="10513"/>
                    <a:pt x="10513" y="0"/>
                    <a:pt x="23481" y="0"/>
                  </a:cubicBezTo>
                  <a:close/>
                </a:path>
              </a:pathLst>
            </a:custGeom>
            <a:ln w="28575" cap="sq">
              <a:solidFill>
                <a:srgbClr val="6CD9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51491" cy="10258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84851" y="3669842"/>
            <a:ext cx="6594270" cy="2656925"/>
            <a:chOff x="0" y="0"/>
            <a:chExt cx="2451491" cy="98774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51491" cy="987741"/>
            </a:xfrm>
            <a:custGeom>
              <a:avLst/>
              <a:gdLst/>
              <a:ahLst/>
              <a:cxnLst/>
              <a:rect r="r" b="b" t="t" l="l"/>
              <a:pathLst>
                <a:path h="987741" w="2451491">
                  <a:moveTo>
                    <a:pt x="23481" y="0"/>
                  </a:moveTo>
                  <a:lnTo>
                    <a:pt x="2428011" y="0"/>
                  </a:lnTo>
                  <a:cubicBezTo>
                    <a:pt x="2434238" y="0"/>
                    <a:pt x="2440210" y="2474"/>
                    <a:pt x="2444614" y="6877"/>
                  </a:cubicBezTo>
                  <a:cubicBezTo>
                    <a:pt x="2449017" y="11281"/>
                    <a:pt x="2451491" y="17253"/>
                    <a:pt x="2451491" y="23481"/>
                  </a:cubicBezTo>
                  <a:lnTo>
                    <a:pt x="2451491" y="964260"/>
                  </a:lnTo>
                  <a:cubicBezTo>
                    <a:pt x="2451491" y="977228"/>
                    <a:pt x="2440979" y="987741"/>
                    <a:pt x="2428011" y="987741"/>
                  </a:cubicBezTo>
                  <a:lnTo>
                    <a:pt x="23481" y="987741"/>
                  </a:lnTo>
                  <a:cubicBezTo>
                    <a:pt x="10513" y="987741"/>
                    <a:pt x="0" y="977228"/>
                    <a:pt x="0" y="964260"/>
                  </a:cubicBezTo>
                  <a:lnTo>
                    <a:pt x="0" y="23481"/>
                  </a:lnTo>
                  <a:cubicBezTo>
                    <a:pt x="0" y="10513"/>
                    <a:pt x="10513" y="0"/>
                    <a:pt x="23481" y="0"/>
                  </a:cubicBezTo>
                  <a:close/>
                </a:path>
              </a:pathLst>
            </a:custGeom>
            <a:ln w="28575" cap="sq">
              <a:solidFill>
                <a:srgbClr val="6CD9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451491" cy="10258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84851" y="6601375"/>
            <a:ext cx="6594270" cy="2656925"/>
            <a:chOff x="0" y="0"/>
            <a:chExt cx="2451491" cy="9877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51491" cy="987741"/>
            </a:xfrm>
            <a:custGeom>
              <a:avLst/>
              <a:gdLst/>
              <a:ahLst/>
              <a:cxnLst/>
              <a:rect r="r" b="b" t="t" l="l"/>
              <a:pathLst>
                <a:path h="987741" w="2451491">
                  <a:moveTo>
                    <a:pt x="23481" y="0"/>
                  </a:moveTo>
                  <a:lnTo>
                    <a:pt x="2428011" y="0"/>
                  </a:lnTo>
                  <a:cubicBezTo>
                    <a:pt x="2434238" y="0"/>
                    <a:pt x="2440210" y="2474"/>
                    <a:pt x="2444614" y="6877"/>
                  </a:cubicBezTo>
                  <a:cubicBezTo>
                    <a:pt x="2449017" y="11281"/>
                    <a:pt x="2451491" y="17253"/>
                    <a:pt x="2451491" y="23481"/>
                  </a:cubicBezTo>
                  <a:lnTo>
                    <a:pt x="2451491" y="964260"/>
                  </a:lnTo>
                  <a:cubicBezTo>
                    <a:pt x="2451491" y="977228"/>
                    <a:pt x="2440979" y="987741"/>
                    <a:pt x="2428011" y="987741"/>
                  </a:cubicBezTo>
                  <a:lnTo>
                    <a:pt x="23481" y="987741"/>
                  </a:lnTo>
                  <a:cubicBezTo>
                    <a:pt x="10513" y="987741"/>
                    <a:pt x="0" y="977228"/>
                    <a:pt x="0" y="964260"/>
                  </a:cubicBezTo>
                  <a:lnTo>
                    <a:pt x="0" y="23481"/>
                  </a:lnTo>
                  <a:cubicBezTo>
                    <a:pt x="0" y="10513"/>
                    <a:pt x="10513" y="0"/>
                    <a:pt x="23481" y="0"/>
                  </a:cubicBezTo>
                  <a:close/>
                </a:path>
              </a:pathLst>
            </a:custGeom>
            <a:ln w="28575" cap="sq">
              <a:solidFill>
                <a:srgbClr val="6CD9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451491" cy="10258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730434" y="4061091"/>
            <a:ext cx="1424704" cy="1745183"/>
          </a:xfrm>
          <a:custGeom>
            <a:avLst/>
            <a:gdLst/>
            <a:ahLst/>
            <a:cxnLst/>
            <a:rect r="r" b="b" t="t" l="l"/>
            <a:pathLst>
              <a:path h="1745183" w="1424704">
                <a:moveTo>
                  <a:pt x="0" y="0"/>
                </a:moveTo>
                <a:lnTo>
                  <a:pt x="1424704" y="0"/>
                </a:lnTo>
                <a:lnTo>
                  <a:pt x="1424704" y="1745183"/>
                </a:lnTo>
                <a:lnTo>
                  <a:pt x="0" y="17451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730434" y="6967318"/>
            <a:ext cx="1550532" cy="1925040"/>
          </a:xfrm>
          <a:custGeom>
            <a:avLst/>
            <a:gdLst/>
            <a:ahLst/>
            <a:cxnLst/>
            <a:rect r="r" b="b" t="t" l="l"/>
            <a:pathLst>
              <a:path h="1925040" w="1550532">
                <a:moveTo>
                  <a:pt x="0" y="0"/>
                </a:moveTo>
                <a:lnTo>
                  <a:pt x="1550532" y="0"/>
                </a:lnTo>
                <a:lnTo>
                  <a:pt x="1550532" y="1925040"/>
                </a:lnTo>
                <a:lnTo>
                  <a:pt x="0" y="19250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591887" y="4267142"/>
            <a:ext cx="1680275" cy="1649725"/>
          </a:xfrm>
          <a:custGeom>
            <a:avLst/>
            <a:gdLst/>
            <a:ahLst/>
            <a:cxnLst/>
            <a:rect r="r" b="b" t="t" l="l"/>
            <a:pathLst>
              <a:path h="1649725" w="1680275">
                <a:moveTo>
                  <a:pt x="0" y="0"/>
                </a:moveTo>
                <a:lnTo>
                  <a:pt x="1680275" y="0"/>
                </a:lnTo>
                <a:lnTo>
                  <a:pt x="1680275" y="1649724"/>
                </a:lnTo>
                <a:lnTo>
                  <a:pt x="0" y="16497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584500" y="7370722"/>
            <a:ext cx="1677703" cy="1461127"/>
          </a:xfrm>
          <a:custGeom>
            <a:avLst/>
            <a:gdLst/>
            <a:ahLst/>
            <a:cxnLst/>
            <a:rect r="r" b="b" t="t" l="l"/>
            <a:pathLst>
              <a:path h="1461127" w="1677703">
                <a:moveTo>
                  <a:pt x="0" y="0"/>
                </a:moveTo>
                <a:lnTo>
                  <a:pt x="1677703" y="0"/>
                </a:lnTo>
                <a:lnTo>
                  <a:pt x="1677703" y="1461127"/>
                </a:lnTo>
                <a:lnTo>
                  <a:pt x="0" y="14611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570038" y="7929838"/>
            <a:ext cx="4310743" cy="4114800"/>
          </a:xfrm>
          <a:custGeom>
            <a:avLst/>
            <a:gdLst/>
            <a:ahLst/>
            <a:cxnLst/>
            <a:rect r="r" b="b" t="t" l="l"/>
            <a:pathLst>
              <a:path h="4114800" w="4310743">
                <a:moveTo>
                  <a:pt x="0" y="0"/>
                </a:moveTo>
                <a:lnTo>
                  <a:pt x="4310743" y="0"/>
                </a:lnTo>
                <a:lnTo>
                  <a:pt x="43107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2487638" y="7929838"/>
            <a:ext cx="4310743" cy="4114800"/>
          </a:xfrm>
          <a:custGeom>
            <a:avLst/>
            <a:gdLst/>
            <a:ahLst/>
            <a:cxnLst/>
            <a:rect r="r" b="b" t="t" l="l"/>
            <a:pathLst>
              <a:path h="4114800" w="4310743">
                <a:moveTo>
                  <a:pt x="0" y="0"/>
                </a:moveTo>
                <a:lnTo>
                  <a:pt x="4310743" y="0"/>
                </a:lnTo>
                <a:lnTo>
                  <a:pt x="43107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6813947">
            <a:off x="13412535" y="-24380"/>
            <a:ext cx="5133170" cy="3397225"/>
          </a:xfrm>
          <a:custGeom>
            <a:avLst/>
            <a:gdLst/>
            <a:ahLst/>
            <a:cxnLst/>
            <a:rect r="r" b="b" t="t" l="l"/>
            <a:pathLst>
              <a:path h="3397225" w="5133170">
                <a:moveTo>
                  <a:pt x="0" y="0"/>
                </a:moveTo>
                <a:lnTo>
                  <a:pt x="5133170" y="0"/>
                </a:lnTo>
                <a:lnTo>
                  <a:pt x="5133170" y="3397225"/>
                </a:lnTo>
                <a:lnTo>
                  <a:pt x="0" y="33972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13564" y="1018651"/>
            <a:ext cx="8130436" cy="224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43"/>
              </a:lnSpc>
            </a:pPr>
            <a:r>
              <a:rPr lang="en-US" sz="9187" b="true">
                <a:solidFill>
                  <a:srgbClr val="D8E2F0"/>
                </a:solidFill>
                <a:latin typeface="Lato Bold"/>
                <a:ea typeface="Lato Bold"/>
                <a:cs typeface="Lato Bold"/>
                <a:sym typeface="Lato Bold"/>
              </a:rPr>
              <a:t>SOC DASHBOARD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91118" y="4267142"/>
            <a:ext cx="5429794" cy="43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b="true" sz="2600">
                <a:solidFill>
                  <a:srgbClr val="6CD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</a:t>
            </a:r>
            <a:r>
              <a:rPr lang="en-US" b="true" sz="2600">
                <a:solidFill>
                  <a:srgbClr val="6CD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REATS BLOCKED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884928" y="4582052"/>
            <a:ext cx="3435983" cy="106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788"/>
              </a:lnSpc>
            </a:pPr>
            <a:r>
              <a:rPr lang="en-US" b="true" sz="62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12,458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67088" y="4267142"/>
            <a:ext cx="5429794" cy="43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b="true" sz="2600">
                <a:solidFill>
                  <a:srgbClr val="6CD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</a:t>
            </a:r>
            <a:r>
              <a:rPr lang="en-US" b="true" sz="2600">
                <a:solidFill>
                  <a:srgbClr val="6CD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TTACK ATTEMPTS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960899" y="4582052"/>
            <a:ext cx="3435983" cy="106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788"/>
              </a:lnSpc>
            </a:pPr>
            <a:r>
              <a:rPr lang="en-US" b="true" sz="62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8</a:t>
            </a:r>
            <a:r>
              <a:rPr lang="en-US" b="true" sz="62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,742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140243" y="7218322"/>
            <a:ext cx="5429794" cy="43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b="true" sz="2600">
                <a:solidFill>
                  <a:srgbClr val="6CD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AVE</a:t>
            </a:r>
            <a:r>
              <a:rPr lang="en-US" b="true" sz="2600">
                <a:solidFill>
                  <a:srgbClr val="6CD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RAGE RESPONSE TIME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134054" y="7533233"/>
            <a:ext cx="3435983" cy="106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788"/>
              </a:lnSpc>
            </a:pPr>
            <a:r>
              <a:rPr lang="en-US" b="true" sz="62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2.4 MIN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891118" y="7218322"/>
            <a:ext cx="5429794" cy="43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b="true" sz="2600">
                <a:solidFill>
                  <a:srgbClr val="6CD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DET</a:t>
            </a:r>
            <a:r>
              <a:rPr lang="en-US" b="true" sz="2600">
                <a:solidFill>
                  <a:srgbClr val="6CD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ECTION RATE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884928" y="7533233"/>
            <a:ext cx="3435983" cy="106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788"/>
              </a:lnSpc>
            </a:pPr>
            <a:r>
              <a:rPr lang="en-US" b="true" sz="62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9</a:t>
            </a:r>
            <a:r>
              <a:rPr lang="en-US" b="true" sz="627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8.6%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726225" y="9486900"/>
            <a:ext cx="8835549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STUDENTS SHOULD EXPLAIN THE DASHBOARD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5808629" y="365702"/>
            <a:ext cx="2101720" cy="1881733"/>
          </a:xfrm>
          <a:custGeom>
            <a:avLst/>
            <a:gdLst/>
            <a:ahLst/>
            <a:cxnLst/>
            <a:rect r="r" b="b" t="t" l="l"/>
            <a:pathLst>
              <a:path h="1881733" w="2101720">
                <a:moveTo>
                  <a:pt x="0" y="0"/>
                </a:moveTo>
                <a:lnTo>
                  <a:pt x="2101721" y="0"/>
                </a:lnTo>
                <a:lnTo>
                  <a:pt x="2101721" y="1881733"/>
                </a:lnTo>
                <a:lnTo>
                  <a:pt x="0" y="188173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54288" y="3277284"/>
            <a:ext cx="6036641" cy="1066919"/>
            <a:chOff x="0" y="0"/>
            <a:chExt cx="2244187" cy="3966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4187" cy="396639"/>
            </a:xfrm>
            <a:custGeom>
              <a:avLst/>
              <a:gdLst/>
              <a:ahLst/>
              <a:cxnLst/>
              <a:rect r="r" b="b" t="t" l="l"/>
              <a:pathLst>
                <a:path h="396639" w="2244187">
                  <a:moveTo>
                    <a:pt x="105164" y="0"/>
                  </a:moveTo>
                  <a:lnTo>
                    <a:pt x="2139023" y="0"/>
                  </a:lnTo>
                  <a:cubicBezTo>
                    <a:pt x="2197103" y="0"/>
                    <a:pt x="2244187" y="47084"/>
                    <a:pt x="2244187" y="105164"/>
                  </a:cubicBezTo>
                  <a:lnTo>
                    <a:pt x="2244187" y="291475"/>
                  </a:lnTo>
                  <a:cubicBezTo>
                    <a:pt x="2244187" y="349555"/>
                    <a:pt x="2197103" y="396639"/>
                    <a:pt x="2139023" y="396639"/>
                  </a:cubicBezTo>
                  <a:lnTo>
                    <a:pt x="105164" y="396639"/>
                  </a:lnTo>
                  <a:cubicBezTo>
                    <a:pt x="47084" y="396639"/>
                    <a:pt x="0" y="349555"/>
                    <a:pt x="0" y="291475"/>
                  </a:cubicBezTo>
                  <a:lnTo>
                    <a:pt x="0" y="105164"/>
                  </a:lnTo>
                  <a:cubicBezTo>
                    <a:pt x="0" y="47084"/>
                    <a:pt x="47084" y="0"/>
                    <a:pt x="105164" y="0"/>
                  </a:cubicBezTo>
                  <a:close/>
                </a:path>
              </a:pathLst>
            </a:custGeom>
            <a:ln w="28575" cap="rnd">
              <a:solidFill>
                <a:srgbClr val="6CD9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44187" cy="434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54288" y="4505808"/>
            <a:ext cx="6036641" cy="1066919"/>
            <a:chOff x="0" y="0"/>
            <a:chExt cx="2244187" cy="39663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4187" cy="396639"/>
            </a:xfrm>
            <a:custGeom>
              <a:avLst/>
              <a:gdLst/>
              <a:ahLst/>
              <a:cxnLst/>
              <a:rect r="r" b="b" t="t" l="l"/>
              <a:pathLst>
                <a:path h="396639" w="2244187">
                  <a:moveTo>
                    <a:pt x="105164" y="0"/>
                  </a:moveTo>
                  <a:lnTo>
                    <a:pt x="2139023" y="0"/>
                  </a:lnTo>
                  <a:cubicBezTo>
                    <a:pt x="2197103" y="0"/>
                    <a:pt x="2244187" y="47084"/>
                    <a:pt x="2244187" y="105164"/>
                  </a:cubicBezTo>
                  <a:lnTo>
                    <a:pt x="2244187" y="291475"/>
                  </a:lnTo>
                  <a:cubicBezTo>
                    <a:pt x="2244187" y="349555"/>
                    <a:pt x="2197103" y="396639"/>
                    <a:pt x="2139023" y="396639"/>
                  </a:cubicBezTo>
                  <a:lnTo>
                    <a:pt x="105164" y="396639"/>
                  </a:lnTo>
                  <a:cubicBezTo>
                    <a:pt x="47084" y="396639"/>
                    <a:pt x="0" y="349555"/>
                    <a:pt x="0" y="291475"/>
                  </a:cubicBezTo>
                  <a:lnTo>
                    <a:pt x="0" y="105164"/>
                  </a:lnTo>
                  <a:cubicBezTo>
                    <a:pt x="0" y="47084"/>
                    <a:pt x="47084" y="0"/>
                    <a:pt x="105164" y="0"/>
                  </a:cubicBezTo>
                  <a:close/>
                </a:path>
              </a:pathLst>
            </a:custGeom>
            <a:ln w="28575" cap="rnd">
              <a:solidFill>
                <a:srgbClr val="6CD9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44187" cy="434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54288" y="5734332"/>
            <a:ext cx="6036641" cy="1066919"/>
            <a:chOff x="0" y="0"/>
            <a:chExt cx="2244187" cy="3966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4187" cy="396639"/>
            </a:xfrm>
            <a:custGeom>
              <a:avLst/>
              <a:gdLst/>
              <a:ahLst/>
              <a:cxnLst/>
              <a:rect r="r" b="b" t="t" l="l"/>
              <a:pathLst>
                <a:path h="396639" w="2244187">
                  <a:moveTo>
                    <a:pt x="105164" y="0"/>
                  </a:moveTo>
                  <a:lnTo>
                    <a:pt x="2139023" y="0"/>
                  </a:lnTo>
                  <a:cubicBezTo>
                    <a:pt x="2197103" y="0"/>
                    <a:pt x="2244187" y="47084"/>
                    <a:pt x="2244187" y="105164"/>
                  </a:cubicBezTo>
                  <a:lnTo>
                    <a:pt x="2244187" y="291475"/>
                  </a:lnTo>
                  <a:cubicBezTo>
                    <a:pt x="2244187" y="349555"/>
                    <a:pt x="2197103" y="396639"/>
                    <a:pt x="2139023" y="396639"/>
                  </a:cubicBezTo>
                  <a:lnTo>
                    <a:pt x="105164" y="396639"/>
                  </a:lnTo>
                  <a:cubicBezTo>
                    <a:pt x="47084" y="396639"/>
                    <a:pt x="0" y="349555"/>
                    <a:pt x="0" y="291475"/>
                  </a:cubicBezTo>
                  <a:lnTo>
                    <a:pt x="0" y="105164"/>
                  </a:lnTo>
                  <a:cubicBezTo>
                    <a:pt x="0" y="47084"/>
                    <a:pt x="47084" y="0"/>
                    <a:pt x="105164" y="0"/>
                  </a:cubicBezTo>
                  <a:close/>
                </a:path>
              </a:pathLst>
            </a:custGeom>
            <a:ln w="28575" cap="rnd">
              <a:solidFill>
                <a:srgbClr val="6CD9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44187" cy="434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54288" y="6962857"/>
            <a:ext cx="6036641" cy="1066919"/>
            <a:chOff x="0" y="0"/>
            <a:chExt cx="2244187" cy="39663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44187" cy="396639"/>
            </a:xfrm>
            <a:custGeom>
              <a:avLst/>
              <a:gdLst/>
              <a:ahLst/>
              <a:cxnLst/>
              <a:rect r="r" b="b" t="t" l="l"/>
              <a:pathLst>
                <a:path h="396639" w="2244187">
                  <a:moveTo>
                    <a:pt x="105164" y="0"/>
                  </a:moveTo>
                  <a:lnTo>
                    <a:pt x="2139023" y="0"/>
                  </a:lnTo>
                  <a:cubicBezTo>
                    <a:pt x="2197103" y="0"/>
                    <a:pt x="2244187" y="47084"/>
                    <a:pt x="2244187" y="105164"/>
                  </a:cubicBezTo>
                  <a:lnTo>
                    <a:pt x="2244187" y="291475"/>
                  </a:lnTo>
                  <a:cubicBezTo>
                    <a:pt x="2244187" y="349555"/>
                    <a:pt x="2197103" y="396639"/>
                    <a:pt x="2139023" y="396639"/>
                  </a:cubicBezTo>
                  <a:lnTo>
                    <a:pt x="105164" y="396639"/>
                  </a:lnTo>
                  <a:cubicBezTo>
                    <a:pt x="47084" y="396639"/>
                    <a:pt x="0" y="349555"/>
                    <a:pt x="0" y="291475"/>
                  </a:cubicBezTo>
                  <a:lnTo>
                    <a:pt x="0" y="105164"/>
                  </a:lnTo>
                  <a:cubicBezTo>
                    <a:pt x="0" y="47084"/>
                    <a:pt x="47084" y="0"/>
                    <a:pt x="105164" y="0"/>
                  </a:cubicBezTo>
                  <a:close/>
                </a:path>
              </a:pathLst>
            </a:custGeom>
            <a:ln w="28575" cap="rnd">
              <a:solidFill>
                <a:srgbClr val="6CD9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244187" cy="434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654288" y="8191381"/>
            <a:ext cx="6036641" cy="1066919"/>
            <a:chOff x="0" y="0"/>
            <a:chExt cx="2244187" cy="3966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4187" cy="396639"/>
            </a:xfrm>
            <a:custGeom>
              <a:avLst/>
              <a:gdLst/>
              <a:ahLst/>
              <a:cxnLst/>
              <a:rect r="r" b="b" t="t" l="l"/>
              <a:pathLst>
                <a:path h="396639" w="2244187">
                  <a:moveTo>
                    <a:pt x="105164" y="0"/>
                  </a:moveTo>
                  <a:lnTo>
                    <a:pt x="2139023" y="0"/>
                  </a:lnTo>
                  <a:cubicBezTo>
                    <a:pt x="2197103" y="0"/>
                    <a:pt x="2244187" y="47084"/>
                    <a:pt x="2244187" y="105164"/>
                  </a:cubicBezTo>
                  <a:lnTo>
                    <a:pt x="2244187" y="291475"/>
                  </a:lnTo>
                  <a:cubicBezTo>
                    <a:pt x="2244187" y="349555"/>
                    <a:pt x="2197103" y="396639"/>
                    <a:pt x="2139023" y="396639"/>
                  </a:cubicBezTo>
                  <a:lnTo>
                    <a:pt x="105164" y="396639"/>
                  </a:lnTo>
                  <a:cubicBezTo>
                    <a:pt x="47084" y="396639"/>
                    <a:pt x="0" y="349555"/>
                    <a:pt x="0" y="291475"/>
                  </a:cubicBezTo>
                  <a:lnTo>
                    <a:pt x="0" y="105164"/>
                  </a:lnTo>
                  <a:cubicBezTo>
                    <a:pt x="0" y="47084"/>
                    <a:pt x="47084" y="0"/>
                    <a:pt x="105164" y="0"/>
                  </a:cubicBezTo>
                  <a:close/>
                </a:path>
              </a:pathLst>
            </a:custGeom>
            <a:ln w="28575" cap="rnd">
              <a:solidFill>
                <a:srgbClr val="6CD9FF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44187" cy="434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295643" y="3277284"/>
            <a:ext cx="1057218" cy="105721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0F1C"/>
            </a:solidFill>
            <a:ln w="19050" cap="sq">
              <a:solidFill>
                <a:srgbClr val="6CD9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295643" y="4496427"/>
            <a:ext cx="1057218" cy="105721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0F1C"/>
            </a:solidFill>
            <a:ln w="19050" cap="sq">
              <a:solidFill>
                <a:srgbClr val="6CD9F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295643" y="5715569"/>
            <a:ext cx="1057218" cy="1057218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0F1C"/>
            </a:solidFill>
            <a:ln w="19050" cap="sq">
              <a:solidFill>
                <a:srgbClr val="6CD9F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295643" y="6934712"/>
            <a:ext cx="1057218" cy="1057218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0F1C"/>
            </a:solidFill>
            <a:ln w="19050" cap="sq">
              <a:solidFill>
                <a:srgbClr val="6CD9FF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295643" y="8153855"/>
            <a:ext cx="1057218" cy="1057218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0F1C"/>
            </a:solidFill>
            <a:ln w="19050" cap="sq">
              <a:solidFill>
                <a:srgbClr val="6CD9FF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0" y="-258528"/>
            <a:ext cx="4350880" cy="6526320"/>
          </a:xfrm>
          <a:custGeom>
            <a:avLst/>
            <a:gdLst/>
            <a:ahLst/>
            <a:cxnLst/>
            <a:rect r="r" b="b" t="t" l="l"/>
            <a:pathLst>
              <a:path h="6526320" w="4350880">
                <a:moveTo>
                  <a:pt x="0" y="0"/>
                </a:moveTo>
                <a:lnTo>
                  <a:pt x="4350880" y="0"/>
                </a:lnTo>
                <a:lnTo>
                  <a:pt x="4350880" y="6526320"/>
                </a:lnTo>
                <a:lnTo>
                  <a:pt x="0" y="65263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5295643" y="1003908"/>
            <a:ext cx="7696714" cy="2111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9"/>
              </a:lnSpc>
            </a:pPr>
            <a:r>
              <a:rPr lang="en-US" b="true" sz="8612">
                <a:solidFill>
                  <a:srgbClr val="D8E2F0"/>
                </a:solidFill>
                <a:latin typeface="Lato Bold"/>
                <a:ea typeface="Lato Bold"/>
                <a:cs typeface="Lato Bold"/>
                <a:sym typeface="Lato Bold"/>
              </a:rPr>
              <a:t>INCIDENT RESPONSE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386352" y="3575781"/>
            <a:ext cx="4572513" cy="422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Identify </a:t>
            </a: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the incident.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462656" y="3547423"/>
            <a:ext cx="723191" cy="488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true">
                <a:solidFill>
                  <a:srgbClr val="6CD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 D</a:t>
            </a:r>
            <a:r>
              <a:rPr lang="en-US" b="true" sz="1400">
                <a:solidFill>
                  <a:srgbClr val="6CD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etect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354001" y="4724008"/>
            <a:ext cx="940502" cy="488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true">
                <a:solidFill>
                  <a:srgbClr val="6CD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 Analyz</a:t>
            </a:r>
            <a:r>
              <a:rPr lang="en-US" b="true" sz="1400">
                <a:solidFill>
                  <a:srgbClr val="6CD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457948" y="6069966"/>
            <a:ext cx="732607" cy="407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92"/>
              </a:lnSpc>
            </a:pPr>
            <a:r>
              <a:rPr lang="en-US" sz="1208" b="true">
                <a:solidFill>
                  <a:srgbClr val="6CD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 Con</a:t>
            </a:r>
            <a:r>
              <a:rPr lang="en-US" b="true" sz="1208">
                <a:solidFill>
                  <a:srgbClr val="6CD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tain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295661" y="7205138"/>
            <a:ext cx="1057182" cy="48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5"/>
              </a:lnSpc>
            </a:pPr>
            <a:r>
              <a:rPr lang="en-US" sz="1404" b="true">
                <a:solidFill>
                  <a:srgbClr val="6CD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 Eradi</a:t>
            </a:r>
            <a:r>
              <a:rPr lang="en-US" b="true" sz="1404">
                <a:solidFill>
                  <a:srgbClr val="6CD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cate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354001" y="8423813"/>
            <a:ext cx="940502" cy="488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true">
                <a:solidFill>
                  <a:srgbClr val="6CD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05 R</a:t>
            </a:r>
            <a:r>
              <a:rPr lang="en-US" b="true" sz="1399">
                <a:solidFill>
                  <a:srgbClr val="6CD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ecover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890416" y="4790073"/>
            <a:ext cx="5564386" cy="422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Determine </a:t>
            </a: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the scope and impact.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386352" y="6032830"/>
            <a:ext cx="4572513" cy="422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Prevent fur</a:t>
            </a: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ther damage.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386352" y="7261354"/>
            <a:ext cx="4572513" cy="422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Remov</a:t>
            </a: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e malicious activity.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386352" y="8489878"/>
            <a:ext cx="4572513" cy="422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Res</a:t>
            </a:r>
            <a:r>
              <a:rPr lang="en-US" sz="25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tore normal operations.</a:t>
            </a:r>
          </a:p>
        </p:txBody>
      </p:sp>
      <p:sp>
        <p:nvSpPr>
          <p:cNvPr name="Freeform 44" id="44"/>
          <p:cNvSpPr/>
          <p:nvPr/>
        </p:nvSpPr>
        <p:spPr>
          <a:xfrm flipH="false" flipV="true" rot="0">
            <a:off x="13937120" y="3970553"/>
            <a:ext cx="4350880" cy="6526320"/>
          </a:xfrm>
          <a:custGeom>
            <a:avLst/>
            <a:gdLst/>
            <a:ahLst/>
            <a:cxnLst/>
            <a:rect r="r" b="b" t="t" l="l"/>
            <a:pathLst>
              <a:path h="6526320" w="4350880">
                <a:moveTo>
                  <a:pt x="0" y="6526321"/>
                </a:moveTo>
                <a:lnTo>
                  <a:pt x="4350880" y="6526321"/>
                </a:lnTo>
                <a:lnTo>
                  <a:pt x="4350880" y="0"/>
                </a:lnTo>
                <a:lnTo>
                  <a:pt x="0" y="0"/>
                </a:lnTo>
                <a:lnTo>
                  <a:pt x="0" y="6526321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5808629" y="365702"/>
            <a:ext cx="2101720" cy="1881733"/>
          </a:xfrm>
          <a:custGeom>
            <a:avLst/>
            <a:gdLst/>
            <a:ahLst/>
            <a:cxnLst/>
            <a:rect r="r" b="b" t="t" l="l"/>
            <a:pathLst>
              <a:path h="1881733" w="2101720">
                <a:moveTo>
                  <a:pt x="0" y="0"/>
                </a:moveTo>
                <a:lnTo>
                  <a:pt x="2101721" y="0"/>
                </a:lnTo>
                <a:lnTo>
                  <a:pt x="2101721" y="1881733"/>
                </a:lnTo>
                <a:lnTo>
                  <a:pt x="0" y="18817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40916" y="3947999"/>
            <a:ext cx="10571533" cy="1098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9"/>
              </a:lnSpc>
            </a:pPr>
            <a:r>
              <a:rPr lang="en-US" b="true" sz="8612">
                <a:solidFill>
                  <a:srgbClr val="D8E2F0"/>
                </a:solidFill>
                <a:latin typeface="Lato Bold"/>
                <a:ea typeface="Lato Bold"/>
                <a:cs typeface="Lato Bold"/>
                <a:sym typeface="Lato Bold"/>
              </a:rPr>
              <a:t>DEMONSTRATION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808629" y="365702"/>
            <a:ext cx="2101720" cy="1881733"/>
          </a:xfrm>
          <a:custGeom>
            <a:avLst/>
            <a:gdLst/>
            <a:ahLst/>
            <a:cxnLst/>
            <a:rect r="r" b="b" t="t" l="l"/>
            <a:pathLst>
              <a:path h="1881733" w="2101720">
                <a:moveTo>
                  <a:pt x="0" y="0"/>
                </a:moveTo>
                <a:lnTo>
                  <a:pt x="2101721" y="0"/>
                </a:lnTo>
                <a:lnTo>
                  <a:pt x="2101721" y="1881733"/>
                </a:lnTo>
                <a:lnTo>
                  <a:pt x="0" y="18817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95643" y="1003908"/>
            <a:ext cx="7696714" cy="1098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09"/>
              </a:lnSpc>
            </a:pPr>
            <a:r>
              <a:rPr lang="en-US" b="true" sz="8612">
                <a:solidFill>
                  <a:srgbClr val="D8E2F0"/>
                </a:solidFill>
                <a:latin typeface="Lato Bold"/>
                <a:ea typeface="Lato Bold"/>
                <a:cs typeface="Lato Bold"/>
                <a:sym typeface="Lato Bold"/>
              </a:rPr>
              <a:t>EVALUATION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394227" y="3503786"/>
            <a:ext cx="5195729" cy="3656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D8E2F0"/>
                </a:solidFill>
                <a:latin typeface="Canva Sans"/>
                <a:ea typeface="Canva Sans"/>
                <a:cs typeface="Canva Sans"/>
                <a:sym typeface="Canva Sans"/>
              </a:rPr>
              <a:t>This should be mandatory.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D8E2F0"/>
                </a:solidFill>
                <a:latin typeface="Canva Sans"/>
                <a:ea typeface="Canva Sans"/>
                <a:cs typeface="Canva Sans"/>
                <a:sym typeface="Canva Sans"/>
              </a:rPr>
              <a:t>Students should provide measurable results.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D8E2F0"/>
                </a:solidFill>
                <a:latin typeface="Canva Sans"/>
                <a:ea typeface="Canva Sans"/>
                <a:cs typeface="Canva Sans"/>
                <a:sym typeface="Canva Sans"/>
              </a:rPr>
              <a:t>Detection Metrics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D8E2F0"/>
                </a:solidFill>
                <a:latin typeface="Canva Sans"/>
                <a:ea typeface="Canva Sans"/>
                <a:cs typeface="Canva Sans"/>
                <a:sym typeface="Canva Sans"/>
              </a:rPr>
              <a:t>True Positive (TP)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D8E2F0"/>
                </a:solidFill>
                <a:latin typeface="Canva Sans"/>
                <a:ea typeface="Canva Sans"/>
                <a:cs typeface="Canva Sans"/>
                <a:sym typeface="Canva Sans"/>
              </a:rPr>
              <a:t>False Positive (FP)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D8E2F0"/>
                </a:solidFill>
                <a:latin typeface="Canva Sans"/>
                <a:ea typeface="Canva Sans"/>
                <a:cs typeface="Canva Sans"/>
                <a:sym typeface="Canva Sans"/>
              </a:rPr>
              <a:t>True Negative (TN)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D8E2F0"/>
                </a:solidFill>
                <a:latin typeface="Canva Sans"/>
                <a:ea typeface="Canva Sans"/>
                <a:cs typeface="Canva Sans"/>
                <a:sym typeface="Canva Sans"/>
              </a:rPr>
              <a:t>False Negative (FN)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D8E2F0"/>
                </a:solidFill>
                <a:latin typeface="Canva Sans"/>
                <a:ea typeface="Canva Sans"/>
                <a:cs typeface="Canva Sans"/>
                <a:sym typeface="Canva Sans"/>
              </a:rPr>
              <a:t>Accuracy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D8E2F0"/>
                </a:solidFill>
                <a:latin typeface="Canva Sans"/>
                <a:ea typeface="Canva Sans"/>
                <a:cs typeface="Canva Sans"/>
                <a:sym typeface="Canva Sans"/>
              </a:rPr>
              <a:t>Precision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D8E2F0"/>
                </a:solidFill>
                <a:latin typeface="Canva Sans"/>
                <a:ea typeface="Canva Sans"/>
                <a:cs typeface="Canva Sans"/>
                <a:sym typeface="Canva Sans"/>
              </a:rPr>
              <a:t>Recall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D8E2F0"/>
                </a:solidFill>
                <a:latin typeface="Canva Sans"/>
                <a:ea typeface="Canva Sans"/>
                <a:cs typeface="Canva Sans"/>
                <a:sym typeface="Canva Sans"/>
              </a:rPr>
              <a:t>F1-score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174143" y="3503786"/>
            <a:ext cx="3938429" cy="232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D8E2F0"/>
                </a:solidFill>
                <a:latin typeface="Canva Sans"/>
                <a:ea typeface="Canva Sans"/>
                <a:cs typeface="Canva Sans"/>
                <a:sym typeface="Canva Sans"/>
              </a:rPr>
              <a:t>For SOC systems, also consider: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D8E2F0"/>
                </a:solidFill>
                <a:latin typeface="Canva Sans"/>
                <a:ea typeface="Canva Sans"/>
                <a:cs typeface="Canva Sans"/>
                <a:sym typeface="Canva Sans"/>
              </a:rPr>
              <a:t>Detection Rate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D8E2F0"/>
                </a:solidFill>
                <a:latin typeface="Canva Sans"/>
                <a:ea typeface="Canva Sans"/>
                <a:cs typeface="Canva Sans"/>
                <a:sym typeface="Canva Sans"/>
              </a:rPr>
              <a:t>False Positive Rate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D8E2F0"/>
                </a:solidFill>
                <a:latin typeface="Canva Sans"/>
                <a:ea typeface="Canva Sans"/>
                <a:cs typeface="Canva Sans"/>
                <a:sym typeface="Canva Sans"/>
              </a:rPr>
              <a:t>Mean Time to Detect (MTTD)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D8E2F0"/>
                </a:solidFill>
                <a:latin typeface="Canva Sans"/>
                <a:ea typeface="Canva Sans"/>
                <a:cs typeface="Canva Sans"/>
                <a:sym typeface="Canva Sans"/>
              </a:rPr>
              <a:t>Mean Time to Respond (MTTR)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D8E2F0"/>
                </a:solidFill>
                <a:latin typeface="Canva Sans"/>
                <a:ea typeface="Canva Sans"/>
                <a:cs typeface="Canva Sans"/>
                <a:sym typeface="Canva Sans"/>
              </a:rPr>
              <a:t>Alert Processing Time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D8E2F0"/>
                </a:solidFill>
                <a:latin typeface="Canva Sans"/>
                <a:ea typeface="Canva Sans"/>
                <a:cs typeface="Canva Sans"/>
                <a:sym typeface="Canva Sans"/>
              </a:rPr>
              <a:t>Resource Consumption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808629" y="365702"/>
            <a:ext cx="2101720" cy="1881733"/>
          </a:xfrm>
          <a:custGeom>
            <a:avLst/>
            <a:gdLst/>
            <a:ahLst/>
            <a:cxnLst/>
            <a:rect r="r" b="b" t="t" l="l"/>
            <a:pathLst>
              <a:path h="1881733" w="2101720">
                <a:moveTo>
                  <a:pt x="0" y="0"/>
                </a:moveTo>
                <a:lnTo>
                  <a:pt x="2101721" y="0"/>
                </a:lnTo>
                <a:lnTo>
                  <a:pt x="2101721" y="1881733"/>
                </a:lnTo>
                <a:lnTo>
                  <a:pt x="0" y="18817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31585" y="-1673470"/>
            <a:ext cx="13339459" cy="13339459"/>
          </a:xfrm>
          <a:custGeom>
            <a:avLst/>
            <a:gdLst/>
            <a:ahLst/>
            <a:cxnLst/>
            <a:rect r="r" b="b" t="t" l="l"/>
            <a:pathLst>
              <a:path h="13339459" w="13339459">
                <a:moveTo>
                  <a:pt x="0" y="0"/>
                </a:moveTo>
                <a:lnTo>
                  <a:pt x="13339459" y="0"/>
                </a:lnTo>
                <a:lnTo>
                  <a:pt x="13339459" y="13339459"/>
                </a:lnTo>
                <a:lnTo>
                  <a:pt x="0" y="133394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31585" y="-1578666"/>
            <a:ext cx="6822522" cy="12302908"/>
          </a:xfrm>
          <a:custGeom>
            <a:avLst/>
            <a:gdLst/>
            <a:ahLst/>
            <a:cxnLst/>
            <a:rect r="r" b="b" t="t" l="l"/>
            <a:pathLst>
              <a:path h="12302908" w="6822522">
                <a:moveTo>
                  <a:pt x="0" y="0"/>
                </a:moveTo>
                <a:lnTo>
                  <a:pt x="6822521" y="0"/>
                </a:lnTo>
                <a:lnTo>
                  <a:pt x="6822521" y="12302907"/>
                </a:lnTo>
                <a:lnTo>
                  <a:pt x="0" y="123029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4766772">
            <a:off x="13259603" y="3522314"/>
            <a:ext cx="3847680" cy="4431196"/>
          </a:xfrm>
          <a:custGeom>
            <a:avLst/>
            <a:gdLst/>
            <a:ahLst/>
            <a:cxnLst/>
            <a:rect r="r" b="b" t="t" l="l"/>
            <a:pathLst>
              <a:path h="4431196" w="3847680">
                <a:moveTo>
                  <a:pt x="0" y="0"/>
                </a:moveTo>
                <a:lnTo>
                  <a:pt x="3847680" y="0"/>
                </a:lnTo>
                <a:lnTo>
                  <a:pt x="3847680" y="4431196"/>
                </a:lnTo>
                <a:lnTo>
                  <a:pt x="0" y="44311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5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923833" y="1201837"/>
            <a:ext cx="10745134" cy="116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3"/>
              </a:lnSpc>
            </a:pPr>
            <a:r>
              <a:rPr lang="en-US" b="true" sz="9187">
                <a:solidFill>
                  <a:srgbClr val="D8E2F0"/>
                </a:solidFill>
                <a:latin typeface="Lato Bold"/>
                <a:ea typeface="Lato Bold"/>
                <a:cs typeface="Lato Bold"/>
                <a:sym typeface="Lato Bold"/>
              </a:rPr>
              <a:t>LIMITATIONS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99739" y="3333202"/>
            <a:ext cx="6174423" cy="427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D8E2F0"/>
                </a:solidFill>
                <a:latin typeface="Canva Sans"/>
                <a:ea typeface="Canva Sans"/>
                <a:cs typeface="Canva Sans"/>
                <a:sym typeface="Canva Sans"/>
              </a:rPr>
              <a:t>Students should honestly explain: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D8E2F0"/>
                </a:solidFill>
                <a:latin typeface="Canva Sans"/>
                <a:ea typeface="Canva Sans"/>
                <a:cs typeface="Canva Sans"/>
                <a:sym typeface="Canva Sans"/>
              </a:rPr>
              <a:t>Dataset limitations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D8E2F0"/>
                </a:solidFill>
                <a:latin typeface="Canva Sans"/>
                <a:ea typeface="Canva Sans"/>
                <a:cs typeface="Canva Sans"/>
                <a:sym typeface="Canva Sans"/>
              </a:rPr>
              <a:t>False positives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D8E2F0"/>
                </a:solidFill>
                <a:latin typeface="Canva Sans"/>
                <a:ea typeface="Canva Sans"/>
                <a:cs typeface="Canva Sans"/>
                <a:sym typeface="Canva Sans"/>
              </a:rPr>
              <a:t>False negatives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D8E2F0"/>
                </a:solidFill>
                <a:latin typeface="Canva Sans"/>
                <a:ea typeface="Canva Sans"/>
                <a:cs typeface="Canva Sans"/>
                <a:sym typeface="Canva Sans"/>
              </a:rPr>
              <a:t>Hardware limitations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D8E2F0"/>
                </a:solidFill>
                <a:latin typeface="Canva Sans"/>
                <a:ea typeface="Canva Sans"/>
                <a:cs typeface="Canva Sans"/>
                <a:sym typeface="Canva Sans"/>
              </a:rPr>
              <a:t>AI model limitations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D8E2F0"/>
                </a:solidFill>
                <a:latin typeface="Canva Sans"/>
                <a:ea typeface="Canva Sans"/>
                <a:cs typeface="Canva Sans"/>
                <a:sym typeface="Canva Sans"/>
              </a:rPr>
              <a:t>Detection gaps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D8E2F0"/>
                </a:solidFill>
                <a:latin typeface="Canva Sans"/>
                <a:ea typeface="Canva Sans"/>
                <a:cs typeface="Canva Sans"/>
                <a:sym typeface="Canva Sans"/>
              </a:rPr>
              <a:t>Performance limitations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D8E2F0"/>
                </a:solidFill>
                <a:latin typeface="Canva Sans"/>
                <a:ea typeface="Canva Sans"/>
                <a:cs typeface="Canva Sans"/>
                <a:sym typeface="Canva Sans"/>
              </a:rPr>
              <a:t>Testing limitations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808629" y="365702"/>
            <a:ext cx="2101720" cy="1881733"/>
          </a:xfrm>
          <a:custGeom>
            <a:avLst/>
            <a:gdLst/>
            <a:ahLst/>
            <a:cxnLst/>
            <a:rect r="r" b="b" t="t" l="l"/>
            <a:pathLst>
              <a:path h="1881733" w="2101720">
                <a:moveTo>
                  <a:pt x="0" y="0"/>
                </a:moveTo>
                <a:lnTo>
                  <a:pt x="2101721" y="0"/>
                </a:lnTo>
                <a:lnTo>
                  <a:pt x="2101721" y="1881733"/>
                </a:lnTo>
                <a:lnTo>
                  <a:pt x="0" y="18817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23361" y="4292569"/>
            <a:ext cx="7315200" cy="212806"/>
          </a:xfrm>
          <a:custGeom>
            <a:avLst/>
            <a:gdLst/>
            <a:ahLst/>
            <a:cxnLst/>
            <a:rect r="r" b="b" t="t" l="l"/>
            <a:pathLst>
              <a:path h="212806" w="7315200">
                <a:moveTo>
                  <a:pt x="0" y="0"/>
                </a:moveTo>
                <a:lnTo>
                  <a:pt x="7315200" y="0"/>
                </a:lnTo>
                <a:lnTo>
                  <a:pt x="7315200" y="212806"/>
                </a:lnTo>
                <a:lnTo>
                  <a:pt x="0" y="212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23361" y="5764831"/>
            <a:ext cx="7315200" cy="212806"/>
          </a:xfrm>
          <a:custGeom>
            <a:avLst/>
            <a:gdLst/>
            <a:ahLst/>
            <a:cxnLst/>
            <a:rect r="r" b="b" t="t" l="l"/>
            <a:pathLst>
              <a:path h="212806" w="7315200">
                <a:moveTo>
                  <a:pt x="0" y="0"/>
                </a:moveTo>
                <a:lnTo>
                  <a:pt x="7315200" y="0"/>
                </a:lnTo>
                <a:lnTo>
                  <a:pt x="7315200" y="212806"/>
                </a:lnTo>
                <a:lnTo>
                  <a:pt x="0" y="212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489039" y="7172047"/>
            <a:ext cx="7315200" cy="212806"/>
          </a:xfrm>
          <a:custGeom>
            <a:avLst/>
            <a:gdLst/>
            <a:ahLst/>
            <a:cxnLst/>
            <a:rect r="r" b="b" t="t" l="l"/>
            <a:pathLst>
              <a:path h="212806" w="7315200">
                <a:moveTo>
                  <a:pt x="0" y="0"/>
                </a:moveTo>
                <a:lnTo>
                  <a:pt x="7315200" y="0"/>
                </a:lnTo>
                <a:lnTo>
                  <a:pt x="7315200" y="212805"/>
                </a:lnTo>
                <a:lnTo>
                  <a:pt x="0" y="2128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354716" y="8617362"/>
            <a:ext cx="7315200" cy="212806"/>
          </a:xfrm>
          <a:custGeom>
            <a:avLst/>
            <a:gdLst/>
            <a:ahLst/>
            <a:cxnLst/>
            <a:rect r="r" b="b" t="t" l="l"/>
            <a:pathLst>
              <a:path h="212806" w="7315200">
                <a:moveTo>
                  <a:pt x="0" y="0"/>
                </a:moveTo>
                <a:lnTo>
                  <a:pt x="7315200" y="0"/>
                </a:lnTo>
                <a:lnTo>
                  <a:pt x="7315200" y="212806"/>
                </a:lnTo>
                <a:lnTo>
                  <a:pt x="0" y="212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31585" y="-1673470"/>
            <a:ext cx="13339459" cy="13339459"/>
          </a:xfrm>
          <a:custGeom>
            <a:avLst/>
            <a:gdLst/>
            <a:ahLst/>
            <a:cxnLst/>
            <a:rect r="r" b="b" t="t" l="l"/>
            <a:pathLst>
              <a:path h="13339459" w="13339459">
                <a:moveTo>
                  <a:pt x="0" y="0"/>
                </a:moveTo>
                <a:lnTo>
                  <a:pt x="13339459" y="0"/>
                </a:lnTo>
                <a:lnTo>
                  <a:pt x="13339459" y="13339459"/>
                </a:lnTo>
                <a:lnTo>
                  <a:pt x="0" y="133394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0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31585" y="-1578666"/>
            <a:ext cx="6822522" cy="12302908"/>
          </a:xfrm>
          <a:custGeom>
            <a:avLst/>
            <a:gdLst/>
            <a:ahLst/>
            <a:cxnLst/>
            <a:rect r="r" b="b" t="t" l="l"/>
            <a:pathLst>
              <a:path h="12302908" w="6822522">
                <a:moveTo>
                  <a:pt x="0" y="0"/>
                </a:moveTo>
                <a:lnTo>
                  <a:pt x="6822521" y="0"/>
                </a:lnTo>
                <a:lnTo>
                  <a:pt x="6822521" y="12302907"/>
                </a:lnTo>
                <a:lnTo>
                  <a:pt x="0" y="12302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4766772">
            <a:off x="13259603" y="3522314"/>
            <a:ext cx="3847680" cy="4431196"/>
          </a:xfrm>
          <a:custGeom>
            <a:avLst/>
            <a:gdLst/>
            <a:ahLst/>
            <a:cxnLst/>
            <a:rect r="r" b="b" t="t" l="l"/>
            <a:pathLst>
              <a:path h="4431196" w="3847680">
                <a:moveTo>
                  <a:pt x="0" y="0"/>
                </a:moveTo>
                <a:lnTo>
                  <a:pt x="3847680" y="0"/>
                </a:lnTo>
                <a:lnTo>
                  <a:pt x="3847680" y="4431196"/>
                </a:lnTo>
                <a:lnTo>
                  <a:pt x="0" y="443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65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3418875"/>
            <a:ext cx="5429794" cy="43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D8E2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AI-POWERED SECURITY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793549"/>
            <a:ext cx="6956976" cy="43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Lev</a:t>
            </a:r>
            <a:r>
              <a:rPr lang="en-US" sz="26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erage automation for faster detection.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951422"/>
            <a:ext cx="5429794" cy="43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D8E2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ZERO TRUST ARCHITECTURE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326096"/>
            <a:ext cx="6956976" cy="43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V</a:t>
            </a:r>
            <a:r>
              <a:rPr lang="en-US" sz="26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erify every user and device.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6301487"/>
            <a:ext cx="5429794" cy="43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D8E2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SECURITY AUTOMATION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6676161"/>
            <a:ext cx="6956976" cy="43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Reduc</a:t>
            </a:r>
            <a:r>
              <a:rPr lang="en-US" sz="26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e manual response times.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7803952"/>
            <a:ext cx="6504719" cy="43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D8E2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GLOBAL THREAT INTELLIGENCE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8178627"/>
            <a:ext cx="6956976" cy="43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St</a:t>
            </a:r>
            <a:r>
              <a:rPr lang="en-US" sz="2600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ay ahead of emerging threats.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23833" y="1201837"/>
            <a:ext cx="10745134" cy="223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3"/>
              </a:lnSpc>
            </a:pPr>
            <a:r>
              <a:rPr lang="en-US" b="true" sz="9187">
                <a:solidFill>
                  <a:srgbClr val="D8E2F0"/>
                </a:solidFill>
                <a:latin typeface="Lato Bold"/>
                <a:ea typeface="Lato Bold"/>
                <a:cs typeface="Lato Bold"/>
                <a:sym typeface="Lato Bold"/>
              </a:rPr>
              <a:t>FUTURE DEFENSE STRATEGY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5808629" y="365702"/>
            <a:ext cx="2101720" cy="1881733"/>
          </a:xfrm>
          <a:custGeom>
            <a:avLst/>
            <a:gdLst/>
            <a:ahLst/>
            <a:cxnLst/>
            <a:rect r="r" b="b" t="t" l="l"/>
            <a:pathLst>
              <a:path h="1881733" w="2101720">
                <a:moveTo>
                  <a:pt x="0" y="0"/>
                </a:moveTo>
                <a:lnTo>
                  <a:pt x="2101721" y="0"/>
                </a:lnTo>
                <a:lnTo>
                  <a:pt x="2101721" y="1881733"/>
                </a:lnTo>
                <a:lnTo>
                  <a:pt x="0" y="188173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36058" y="-1134059"/>
            <a:ext cx="8882746" cy="12555119"/>
          </a:xfrm>
          <a:custGeom>
            <a:avLst/>
            <a:gdLst/>
            <a:ahLst/>
            <a:cxnLst/>
            <a:rect r="r" b="b" t="t" l="l"/>
            <a:pathLst>
              <a:path h="12555119" w="8882746">
                <a:moveTo>
                  <a:pt x="0" y="0"/>
                </a:moveTo>
                <a:lnTo>
                  <a:pt x="8882746" y="0"/>
                </a:lnTo>
                <a:lnTo>
                  <a:pt x="8882746" y="12555118"/>
                </a:lnTo>
                <a:lnTo>
                  <a:pt x="0" y="125551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94357" y="-2848038"/>
            <a:ext cx="13124447" cy="9144776"/>
          </a:xfrm>
          <a:custGeom>
            <a:avLst/>
            <a:gdLst/>
            <a:ahLst/>
            <a:cxnLst/>
            <a:rect r="r" b="b" t="t" l="l"/>
            <a:pathLst>
              <a:path h="9144776" w="13124447">
                <a:moveTo>
                  <a:pt x="0" y="0"/>
                </a:moveTo>
                <a:lnTo>
                  <a:pt x="13124447" y="0"/>
                </a:lnTo>
                <a:lnTo>
                  <a:pt x="13124447" y="9144776"/>
                </a:lnTo>
                <a:lnTo>
                  <a:pt x="0" y="91447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202424" y="1724350"/>
            <a:ext cx="6568717" cy="8229600"/>
          </a:xfrm>
          <a:custGeom>
            <a:avLst/>
            <a:gdLst/>
            <a:ahLst/>
            <a:cxnLst/>
            <a:rect r="r" b="b" t="t" l="l"/>
            <a:pathLst>
              <a:path h="8229600" w="6568717">
                <a:moveTo>
                  <a:pt x="0" y="0"/>
                </a:moveTo>
                <a:lnTo>
                  <a:pt x="6568717" y="0"/>
                </a:lnTo>
                <a:lnTo>
                  <a:pt x="656871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998824" y="8108903"/>
            <a:ext cx="4145176" cy="2140418"/>
          </a:xfrm>
          <a:custGeom>
            <a:avLst/>
            <a:gdLst/>
            <a:ahLst/>
            <a:cxnLst/>
            <a:rect r="r" b="b" t="t" l="l"/>
            <a:pathLst>
              <a:path h="2140418" w="4145176">
                <a:moveTo>
                  <a:pt x="0" y="0"/>
                </a:moveTo>
                <a:lnTo>
                  <a:pt x="4145176" y="0"/>
                </a:lnTo>
                <a:lnTo>
                  <a:pt x="4145176" y="2140418"/>
                </a:lnTo>
                <a:lnTo>
                  <a:pt x="0" y="21404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257300"/>
            <a:ext cx="8799312" cy="116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43"/>
              </a:lnSpc>
            </a:pPr>
            <a:r>
              <a:rPr lang="en-US" sz="9187">
                <a:solidFill>
                  <a:srgbClr val="D8E2F0"/>
                </a:solidFill>
                <a:latin typeface="Lato"/>
                <a:ea typeface="Lato"/>
                <a:cs typeface="Lato"/>
                <a:sym typeface="Lato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73863" y="3571565"/>
            <a:ext cx="5739606" cy="2453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D8E2F0"/>
                </a:solidFill>
                <a:latin typeface="Montserrat"/>
                <a:ea typeface="Montserrat"/>
                <a:cs typeface="Montserrat"/>
                <a:sym typeface="Montserrat"/>
              </a:rPr>
              <a:t>Answer three things: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D8E2F0"/>
                </a:solidFill>
                <a:latin typeface="Montserrat"/>
                <a:ea typeface="Montserrat"/>
                <a:cs typeface="Montserrat"/>
                <a:sym typeface="Montserrat"/>
              </a:rPr>
              <a:t>What was developed?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D8E2F0"/>
                </a:solidFill>
                <a:latin typeface="Montserrat"/>
                <a:ea typeface="Montserrat"/>
                <a:cs typeface="Montserrat"/>
                <a:sym typeface="Montserrat"/>
              </a:rPr>
              <a:t>What problem was solved?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D8E2F0"/>
                </a:solidFill>
                <a:latin typeface="Montserrat"/>
                <a:ea typeface="Montserrat"/>
                <a:cs typeface="Montserrat"/>
                <a:sym typeface="Montserrat"/>
              </a:rPr>
              <a:t>What were the main results?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D8E2F0"/>
                </a:solidFill>
                <a:latin typeface="Montserrat"/>
                <a:ea typeface="Montserrat"/>
                <a:cs typeface="Montserrat"/>
                <a:sym typeface="Montserrat"/>
              </a:rPr>
              <a:t>Keep this slide short.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808629" y="365702"/>
            <a:ext cx="2101720" cy="1881733"/>
          </a:xfrm>
          <a:custGeom>
            <a:avLst/>
            <a:gdLst/>
            <a:ahLst/>
            <a:cxnLst/>
            <a:rect r="r" b="b" t="t" l="l"/>
            <a:pathLst>
              <a:path h="1881733" w="2101720">
                <a:moveTo>
                  <a:pt x="0" y="0"/>
                </a:moveTo>
                <a:lnTo>
                  <a:pt x="2101721" y="0"/>
                </a:lnTo>
                <a:lnTo>
                  <a:pt x="2101721" y="1881733"/>
                </a:lnTo>
                <a:lnTo>
                  <a:pt x="0" y="18817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57300"/>
            <a:ext cx="8799312" cy="116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43"/>
              </a:lnSpc>
            </a:pPr>
            <a:r>
              <a:rPr lang="en-US" sz="9187">
                <a:solidFill>
                  <a:srgbClr val="D8E2F0"/>
                </a:solidFill>
                <a:latin typeface="Lato"/>
                <a:ea typeface="Lato"/>
                <a:cs typeface="Lato"/>
                <a:sym typeface="Lato"/>
              </a:rPr>
              <a:t>REFERENCES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54287" y="3528695"/>
            <a:ext cx="7677626" cy="3443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D8E2F0"/>
                </a:solidFill>
                <a:latin typeface="Montserrat"/>
                <a:ea typeface="Montserrat"/>
                <a:cs typeface="Montserrat"/>
                <a:sym typeface="Montserrat"/>
              </a:rPr>
              <a:t>Require: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D8E2F0"/>
                </a:solidFill>
                <a:latin typeface="Montserrat"/>
                <a:ea typeface="Montserrat"/>
                <a:cs typeface="Montserrat"/>
                <a:sym typeface="Montserrat"/>
              </a:rPr>
              <a:t>Research papers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D8E2F0"/>
                </a:solidFill>
                <a:latin typeface="Montserrat"/>
                <a:ea typeface="Montserrat"/>
                <a:cs typeface="Montserrat"/>
                <a:sym typeface="Montserrat"/>
              </a:rPr>
              <a:t>Official documentation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D8E2F0"/>
                </a:solidFill>
                <a:latin typeface="Montserrat"/>
                <a:ea typeface="Montserrat"/>
                <a:cs typeface="Montserrat"/>
                <a:sym typeface="Montserrat"/>
              </a:rPr>
              <a:t>Security frameworks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D8E2F0"/>
                </a:solidFill>
                <a:latin typeface="Montserrat"/>
                <a:ea typeface="Montserrat"/>
                <a:cs typeface="Montserrat"/>
                <a:sym typeface="Montserrat"/>
              </a:rPr>
              <a:t>Dataset sources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D8E2F0"/>
                </a:solidFill>
                <a:latin typeface="Montserrat"/>
                <a:ea typeface="Montserrat"/>
                <a:cs typeface="Montserrat"/>
                <a:sym typeface="Montserrat"/>
              </a:rPr>
              <a:t>Tools/software documentation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D8E2F0"/>
                </a:solidFill>
                <a:latin typeface="Montserrat"/>
                <a:ea typeface="Montserrat"/>
                <a:cs typeface="Montserrat"/>
                <a:sym typeface="Montserrat"/>
              </a:rPr>
              <a:t>Use a consistent citation style such as IEEE.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808629" y="365702"/>
            <a:ext cx="2101720" cy="1881733"/>
          </a:xfrm>
          <a:custGeom>
            <a:avLst/>
            <a:gdLst/>
            <a:ahLst/>
            <a:cxnLst/>
            <a:rect r="r" b="b" t="t" l="l"/>
            <a:pathLst>
              <a:path h="1881733" w="2101720">
                <a:moveTo>
                  <a:pt x="0" y="0"/>
                </a:moveTo>
                <a:lnTo>
                  <a:pt x="2101721" y="0"/>
                </a:lnTo>
                <a:lnTo>
                  <a:pt x="2101721" y="1881733"/>
                </a:lnTo>
                <a:lnTo>
                  <a:pt x="0" y="18817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9953" y="-2687644"/>
            <a:ext cx="15568094" cy="8633216"/>
          </a:xfrm>
          <a:custGeom>
            <a:avLst/>
            <a:gdLst/>
            <a:ahLst/>
            <a:cxnLst/>
            <a:rect r="r" b="b" t="t" l="l"/>
            <a:pathLst>
              <a:path h="8633216" w="15568094">
                <a:moveTo>
                  <a:pt x="0" y="0"/>
                </a:moveTo>
                <a:lnTo>
                  <a:pt x="15568094" y="0"/>
                </a:lnTo>
                <a:lnTo>
                  <a:pt x="15568094" y="8633216"/>
                </a:lnTo>
                <a:lnTo>
                  <a:pt x="0" y="86332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552" y="8030819"/>
            <a:ext cx="3654566" cy="2183603"/>
          </a:xfrm>
          <a:custGeom>
            <a:avLst/>
            <a:gdLst/>
            <a:ahLst/>
            <a:cxnLst/>
            <a:rect r="r" b="b" t="t" l="l"/>
            <a:pathLst>
              <a:path h="2183603" w="3654566">
                <a:moveTo>
                  <a:pt x="0" y="0"/>
                </a:moveTo>
                <a:lnTo>
                  <a:pt x="3654566" y="0"/>
                </a:lnTo>
                <a:lnTo>
                  <a:pt x="3654566" y="2183603"/>
                </a:lnTo>
                <a:lnTo>
                  <a:pt x="0" y="21836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5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038602" y="8030819"/>
            <a:ext cx="3654566" cy="2183603"/>
          </a:xfrm>
          <a:custGeom>
            <a:avLst/>
            <a:gdLst/>
            <a:ahLst/>
            <a:cxnLst/>
            <a:rect r="r" b="b" t="t" l="l"/>
            <a:pathLst>
              <a:path h="2183603" w="3654566">
                <a:moveTo>
                  <a:pt x="3654566" y="0"/>
                </a:moveTo>
                <a:lnTo>
                  <a:pt x="0" y="0"/>
                </a:lnTo>
                <a:lnTo>
                  <a:pt x="0" y="2183603"/>
                </a:lnTo>
                <a:lnTo>
                  <a:pt x="3654566" y="2183603"/>
                </a:lnTo>
                <a:lnTo>
                  <a:pt x="3654566" y="0"/>
                </a:lnTo>
                <a:close/>
              </a:path>
            </a:pathLst>
          </a:custGeom>
          <a:blipFill>
            <a:blip r:embed="rId4">
              <a:alphaModFix amt="85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738217" y="694006"/>
            <a:ext cx="4145176" cy="2140418"/>
          </a:xfrm>
          <a:custGeom>
            <a:avLst/>
            <a:gdLst/>
            <a:ahLst/>
            <a:cxnLst/>
            <a:rect r="r" b="b" t="t" l="l"/>
            <a:pathLst>
              <a:path h="2140418" w="4145176">
                <a:moveTo>
                  <a:pt x="0" y="0"/>
                </a:moveTo>
                <a:lnTo>
                  <a:pt x="4145176" y="0"/>
                </a:lnTo>
                <a:lnTo>
                  <a:pt x="4145176" y="2140419"/>
                </a:lnTo>
                <a:lnTo>
                  <a:pt x="0" y="21404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741118" y="879373"/>
            <a:ext cx="10805764" cy="4367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47"/>
              </a:lnSpc>
            </a:pPr>
            <a:r>
              <a:rPr lang="en-US" b="true" sz="17900">
                <a:solidFill>
                  <a:srgbClr val="D8E2F0"/>
                </a:solidFill>
                <a:latin typeface="Lato Bold"/>
                <a:ea typeface="Lato Bold"/>
                <a:cs typeface="Lato Bold"/>
                <a:sym typeface="Lato Bold"/>
              </a:rPr>
              <a:t>STAY SECURE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32219" y="5189526"/>
            <a:ext cx="8623561" cy="473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1"/>
              </a:lnSpc>
            </a:pPr>
            <a:r>
              <a:rPr lang="en-US" sz="2779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Securing </a:t>
            </a:r>
            <a:r>
              <a:rPr lang="en-US" sz="2779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the future, one layer at a time.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32219" y="5680165"/>
            <a:ext cx="8623561" cy="473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1"/>
              </a:lnSpc>
            </a:pPr>
            <a:r>
              <a:rPr lang="en-US" sz="2779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Toge</a:t>
            </a:r>
            <a:r>
              <a:rPr lang="en-US" sz="2779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ther, we build stronger digital defenses.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78777" y="7072830"/>
            <a:ext cx="5930445" cy="870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b="true" sz="5091">
                <a:solidFill>
                  <a:srgbClr val="6CD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</a:t>
            </a:r>
            <a:r>
              <a:rPr lang="en-US" b="true" sz="5091">
                <a:solidFill>
                  <a:srgbClr val="6CD9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YOU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32219" y="8784637"/>
            <a:ext cx="8623561" cy="473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1"/>
              </a:lnSpc>
            </a:pPr>
            <a:r>
              <a:rPr lang="en-US" sz="2779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www.r</a:t>
            </a:r>
            <a:r>
              <a:rPr lang="en-US" sz="2779">
                <a:solidFill>
                  <a:srgbClr val="6CD9FF"/>
                </a:solidFill>
                <a:latin typeface="Montserrat"/>
                <a:ea typeface="Montserrat"/>
                <a:cs typeface="Montserrat"/>
                <a:sym typeface="Montserrat"/>
              </a:rPr>
              <a:t>eallygreatsite.com 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4142824" y="694006"/>
            <a:ext cx="4145176" cy="2140418"/>
          </a:xfrm>
          <a:custGeom>
            <a:avLst/>
            <a:gdLst/>
            <a:ahLst/>
            <a:cxnLst/>
            <a:rect r="r" b="b" t="t" l="l"/>
            <a:pathLst>
              <a:path h="2140418" w="4145176">
                <a:moveTo>
                  <a:pt x="0" y="0"/>
                </a:moveTo>
                <a:lnTo>
                  <a:pt x="4145176" y="0"/>
                </a:lnTo>
                <a:lnTo>
                  <a:pt x="4145176" y="2140419"/>
                </a:lnTo>
                <a:lnTo>
                  <a:pt x="0" y="21404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808629" y="365702"/>
            <a:ext cx="2101720" cy="1881733"/>
          </a:xfrm>
          <a:custGeom>
            <a:avLst/>
            <a:gdLst/>
            <a:ahLst/>
            <a:cxnLst/>
            <a:rect r="r" b="b" t="t" l="l"/>
            <a:pathLst>
              <a:path h="1881733" w="2101720">
                <a:moveTo>
                  <a:pt x="0" y="0"/>
                </a:moveTo>
                <a:lnTo>
                  <a:pt x="2101721" y="0"/>
                </a:lnTo>
                <a:lnTo>
                  <a:pt x="2101721" y="1881733"/>
                </a:lnTo>
                <a:lnTo>
                  <a:pt x="0" y="18817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DAHUR-89D0Y</dc:identifier>
  <dcterms:modified xsi:type="dcterms:W3CDTF">2011-08-01T06:04:30Z</dcterms:modified>
  <cp:revision>1</cp:revision>
  <dc:title>Project title</dc:title>
</cp:coreProperties>
</file>